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Agent Annotate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0096D6"/>
                </a:solidFill>
              </a:defRPr>
            </a:pPr>
            <a:r>
              <a:t>Automated Clinical Trial Annotation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600" b="0">
                <a:solidFill>
                  <a:srgbClr val="A0A0A0"/>
                </a:solidFill>
              </a:defRPr>
            </a:pPr>
            <a:r>
              <a:t>15 Research Agents  |  6 Annotation Fields  |  4-Model Verification  |  20+ Data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Amphoraxe Life Sciences  |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Pipeline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2606040" cy="64008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1.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15 agents query 20+ databases</a:t>
            </a:r>
            <a:br/>
            <a:r>
              <a:t>in parallel for each 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5-15 min / 100 trials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371600"/>
            <a:ext cx="2606040" cy="64008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2. Annotate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6 specialized agents extract</a:t>
            </a:r>
            <a:br/>
            <a:r>
              <a:t>structured annotations per field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10-30 sec / trial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59" y="1371600"/>
            <a:ext cx="2606040" cy="64008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3. 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3 independent verifiers +</a:t>
            </a:r>
            <a:br/>
            <a:r>
              <a:t>1 reconciler check every answer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1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30-45 sec / trial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39" y="2560320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1371600"/>
            <a:ext cx="2606040" cy="32004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9719" y="1371600"/>
            <a:ext cx="2606040" cy="64008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4.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79" y="2194560"/>
            <a:ext cx="2331720" cy="1645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2D2D3F"/>
                </a:solidFill>
              </a:defRPr>
            </a:pPr>
            <a:r>
              <a:t>Structured JSON + CSV</a:t>
            </a:r>
            <a:br/>
            <a:r>
              <a:t>with full audit trail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79" y="3931920"/>
            <a:ext cx="23317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A0A0A0"/>
                </a:solidFill>
              </a:defRPr>
            </a:pPr>
            <a:r>
              <a:t>Instant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064240" cy="109728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Key Stats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Each trial: ~60-90 seconds end-to-end on Mac Mini (qwen3:14b annotation model)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94-NCT validation: Classification 91%, Delivery 85%, Outcome 61%, Peptide 88%, Sequence 58%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Human inter-annotator agreement: Classification 93%, Delivery 89%, Outcome 64%, Peptide 86%, Sequence 52%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1: Research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15 agents query 20+ databases in parallel — no LLM required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2743200" cy="50292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Clinical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65960"/>
            <a:ext cx="2743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ClinicalTrials.gov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protocol, status, results, endpoints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90779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OpenFDA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labels, routes, safety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75818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WHO ICTRP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International trial registrations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743200" cy="50292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Literature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PubMed / PMC / Europe PMC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Trial publications via NCT ID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OpenAlex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250M+ works, citation-ranked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Semantic Scholar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200M papers, AI-generated TLDRs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CrossRef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DOI metadata, fills non-indexed gaps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743200" cy="50292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Drug &amp; Peptide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UniProt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Protein sequences, mature chain lengths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ChEMBL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phase, bioactivity, HELM notation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66744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DBAASP / APD / DRAMP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Antimicrobial peptide databases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17136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RCSB PDB / PDBe / EBI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3D structures, protein features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371600"/>
            <a:ext cx="2743200" cy="50292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600" b="1">
                <a:solidFill>
                  <a:srgbClr val="FFFFFF"/>
                </a:solidFill>
              </a:defRPr>
            </a:pPr>
            <a:r>
              <a:t>Other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965960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IUPHAR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Drug targets &amp; mechanisms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816352"/>
            <a:ext cx="274320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400"/>
              </a:spcBef>
              <a:defRPr sz="1300" b="1">
                <a:solidFill>
                  <a:srgbClr val="A85CFF"/>
                </a:solidFill>
              </a:defRPr>
            </a:pPr>
            <a:r>
              <a:t>DuckDuckGo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Web context, press releases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Deterministic-First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Known answers are resolved instantly from reference data — the LLM only handles genuinely ambiguous cases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C9A7"/>
                </a:solidFill>
              </a:defRPr>
            </a:pPr>
            <a:r>
              <a:t>Step 1: Reference Lookup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drug name against curated lists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Match against live database hits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matched → instant answer, skip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45920"/>
            <a:ext cx="320040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FF8C42"/>
                </a:solidFill>
              </a:defRPr>
            </a:pPr>
            <a:r>
              <a:t>Step 2: Structured Rules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Apply deterministic rules on extracted data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p-values, registry status, keywords</a:t>
            </a:r>
          </a:p>
          <a:p>
            <a:pPr>
              <a:spcBef>
                <a:spcPts val="400"/>
              </a:spcBef>
              <a:defRPr sz="1300" b="1">
                <a:solidFill>
                  <a:srgbClr val="FF8C42"/>
                </a:solidFill>
              </a:defRPr>
            </a:pPr>
            <a:r>
              <a:t>If conclusive → answer, skip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645920"/>
            <a:ext cx="3566160" cy="1463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600" b="1">
                <a:solidFill>
                  <a:srgbClr val="0096D6"/>
                </a:solidFill>
              </a:defRPr>
            </a:pPr>
            <a:r>
              <a:t>Step 3: LLM Reasoning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Only for genuinely ambiguous cases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Novel drugs, borderline evidence, edge cases</a:t>
            </a:r>
          </a:p>
          <a:p>
            <a:pPr>
              <a:spcBef>
                <a:spcPts val="400"/>
              </a:spcBef>
              <a:defRPr sz="1300" b="1">
                <a:solidFill>
                  <a:srgbClr val="0096D6"/>
                </a:solidFill>
              </a:defRPr>
            </a:pPr>
            <a:r>
              <a:t>Multi-pass with structured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74720"/>
            <a:ext cx="1124712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11247120" cy="50292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    Field                     Reference Lists                              Source of Truth                                              Coverage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80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408736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44 known AMPs + 48 known non-AMPs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408736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Pharmacology literature, WHO essential medicines, published AMP reviews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0" y="408736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~30-40% of trials resolved instantly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462272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Peptide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480560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75 known peptides + 39 known non-peptides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480560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DrugBank molecular class, UniProt protein type, published drug profiles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480560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~40-50% of trials resolved instantly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55464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20" y="4873752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66 drugs with mapped sequences + 43 aliases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873752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DBAASP, APD, UniProt databases (verified AA sequences)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0" y="4873752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~60% of peptide trials resolved instantly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48656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Outcome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5266944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5 deterministic statuses + structured endpoint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5266944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registry status, posted p-values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5266944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~25% of trials resolved instantly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641848"/>
            <a:ext cx="11064240" cy="3657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660136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route keywords from protocol + FDA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660136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protocol text, OpenFDA drug labels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5660136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~15% of trials resolved deterministically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6035040"/>
            <a:ext cx="11064240" cy="3657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1">
                <a:solidFill>
                  <a:srgbClr val="0096D6"/>
                </a:solidFill>
              </a:defRPr>
            </a:pPr>
            <a:r>
              <a:t>Reason for Failure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60320" y="6053328"/>
            <a:ext cx="34747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No drug lists — whyStopped field from registry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6053328"/>
            <a:ext cx="36576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A0A0A0"/>
                </a:solidFill>
              </a:defRPr>
            </a:pPr>
            <a:r>
              <a:t>ClinicalTrials.gov whyStopped free 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6053328"/>
            <a:ext cx="1828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0">
                <a:solidFill>
                  <a:srgbClr val="2D2D3F"/>
                </a:solidFill>
              </a:defRPr>
            </a:pPr>
            <a:r>
              <a:t>~20% resolved from structured reason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A0A0A0"/>
                </a:solidFill>
              </a:defRPr>
            </a:pPr>
            <a:r>
              <a:t>Why? Established drugs don't need LLM reasoning — colistin is always an AMP, insulin is never one. This eliminates LLM cost, latency, and nondeterminism for known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(1/3)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Classification: Is this an AMP trial?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trial studying an Antimicrobial Peptide?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AMP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(42 known AMPs, 48 known non-AMPs)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pharmacology literature (colistin, vancomycin,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Skips LLM for established drugs — speed + consistency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AMP database hits (DRAMP/DBAASP/APD → live lookup)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antimicrobial evidence &amp; mechanism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(peptide? direct antimicrobial?)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91.4% (vs 93.2%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Peptide: Is the drug a peptide?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Is the intervention a peptide molecule (≤100 amino acids)?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True or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Reference drug lookup (56 known peptides, 30 known non-peptides)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Curated from pharma references (semaglutide, oxytocin, etc.)</a:t>
            </a:r>
          </a:p>
          <a:p>
            <a:pPr lvl="1">
              <a:spcBef>
                <a:spcPts val="400"/>
              </a:spcBef>
              <a:defRPr sz="1100" b="0">
                <a:solidFill>
                  <a:srgbClr val="A0A0A0"/>
                </a:solidFill>
              </a:defRPr>
            </a:pPr>
            <a:r>
              <a:t>Known non-peptides: antibodies, small molecules, nutritional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UniProt/ChEMBL molecular class lookup (live)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for novel/ambiguous drugs only: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molecular class, AA length, DB matches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Decision tree (peptide class? ≤100 AA?)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Safety checks: monoclonal antibody → False, nutritional → False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C9A7"/>
                </a:solidFill>
              </a:defRPr>
            </a:pPr>
            <a:r>
              <a:t>Accuracy: 88.3% (vs 86.0%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C9A7"/>
                </a:solidFill>
              </a:defRPr>
            </a:pPr>
            <a:r>
              <a:t>Above human inter-annotator ceiling!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(2/3)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Delivery Mode: How is the drug given?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route of administration?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Injection/Infusion, Oral, Topical, or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Deterministic extraction from protocol &amp; FDA labels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Route keyword matching (71 keywords across sources)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 analysis: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Extract route from protocol, FDA,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canonical delivery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Not-specified override: if all sources say 'no route', force Other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8C42"/>
                </a:solidFill>
              </a:defRPr>
            </a:pPr>
            <a:r>
              <a:t>Accuracy: 85.4% (vs 88.9% human agreement)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FF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Outcome: Did the trial succeed?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was the trial's clinical outcome?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Positive, Failed, Terminated, Unknown, Recruiting, etc.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(4-tier dossier architecture):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1: Deterministic status mapping (Recruiting, Withdrawn)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2: Structured evidence dossier (no LLM yet)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Extracts: status, results, endpoints, p-values, publications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Classifies publications as trial-specific vs reviews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Separates efficacy vs safety-only signals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3: Deterministic rules (p&lt;0.05 → Positive, futility → Failed)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Tier 4: LLM with structured dossier (hardest cases only)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FF5C5C"/>
                </a:solidFill>
              </a:defRPr>
            </a:pPr>
            <a:r>
              <a:t>Accuracy: 60.5% (vs 64.3%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FF5C5C"/>
                </a:solidFill>
              </a:defRPr>
            </a:pPr>
            <a:r>
              <a:t>Hardest field — even humans disagree 36% of the time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2: Annotation Agents (3/3)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A85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5486400" cy="594360"/>
          </a:xfrm>
          <a:prstGeom prst="roundRect">
            <a:avLst/>
          </a:prstGeom>
          <a:solidFill>
            <a:srgbClr val="A8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Reason for Failure: Why did it fail?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If the trial failed, why?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Business Reason, Ineffective, Toxic/Unsafe, Covid, Recruitment, (empty)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Pre-check: skip if outcome is Positive/Recruiting (no failure)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Extract whyStopped field from ClinicalTrials.gov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Two-pass LLM: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1: Investigate failure signals in literature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Pass 2: Classify into failure category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Requires positive evidence of failure reason — never guesses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A85CFF"/>
                </a:solidFill>
              </a:defRPr>
            </a:pPr>
            <a:r>
              <a:t>Accuracy: 92.4% (vs 88.6%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A85CFF"/>
                </a:solidFill>
              </a:defRPr>
            </a:pPr>
            <a:r>
              <a:t>Above human inter-annotator ceiling!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188720"/>
            <a:ext cx="54864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486400" cy="59436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800" b="1">
                <a:solidFill>
                  <a:srgbClr val="FFFFFF"/>
                </a:solidFill>
              </a:defRPr>
            </a:pPr>
            <a:r>
              <a:t>Sequence: What is the AA sequence?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93776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1">
                <a:solidFill>
                  <a:srgbClr val="2D2D3F"/>
                </a:solidFill>
              </a:defRPr>
            </a:pPr>
            <a:r>
              <a:t>Question: What is the peptide's amino acid sequence?</a:t>
            </a:r>
          </a:p>
          <a:p>
            <a:pPr>
              <a:spcBef>
                <a:spcPts val="400"/>
              </a:spcBef>
              <a:defRPr sz="1300" b="0">
                <a:solidFill>
                  <a:srgbClr val="A0A0A0"/>
                </a:solidFill>
              </a:defRPr>
            </a:pPr>
            <a:r>
              <a:t>Output: Sequence string (e.g. HAEGTFTSDVSS...) or N/A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How it works (fully deterministic — no LLM):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1. Known sequence lookup (~70 drugs with pre-mapped sequences)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2. Database priority cascade:</a:t>
            </a:r>
          </a:p>
          <a:p>
            <a:pPr lvl="1"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DBAASP → APD → ChEMBL HELM → UniProt mature → EBI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3. Score by source reliability × drug name relevance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4. Select highest-scoring candidate sequence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0096D6"/>
                </a:solidFill>
              </a:defRPr>
            </a:pPr>
            <a:r>
              <a:t>No LLM needed — pure structured data extraction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</a:p>
          <a:p>
            <a:pPr>
              <a:spcBef>
                <a:spcPts val="400"/>
              </a:spcBef>
              <a:defRPr sz="1400" b="1">
                <a:solidFill>
                  <a:srgbClr val="0096D6"/>
                </a:solidFill>
              </a:defRPr>
            </a:pPr>
            <a:r>
              <a:t>Accuracy: 58.3% (vs 52.0% human agreement)</a:t>
            </a:r>
          </a:p>
          <a:p>
            <a:pPr>
              <a:spcBef>
                <a:spcPts val="400"/>
              </a:spcBef>
              <a:defRPr sz="1200" b="0">
                <a:solidFill>
                  <a:srgbClr val="0096D6"/>
                </a:solidFill>
              </a:defRPr>
            </a:pPr>
            <a:r>
              <a:t>Above human ceiling! Errors are notation differences (multi-chain, terminal mods)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Phase 3: Verification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Every annotation is independently verified by 3 models with different reasoning styles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28600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C9A7"/>
                </a:solidFill>
              </a:defRPr>
            </a:pPr>
            <a:r>
              <a:t>Primary Annotation</a:t>
            </a:r>
          </a:p>
          <a:p>
            <a:pPr>
              <a:spcBef>
                <a:spcPts val="400"/>
              </a:spcBef>
              <a:defRPr sz="14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the initial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0116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1: Conservative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gemma2:9b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Cautious interpretation</a:t>
            </a:r>
            <a:br/>
            <a:r>
              <a:t>of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88036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2: Evidence-Strict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qwen2.5:7b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Only cites explicit</a:t>
            </a:r>
            <a:br/>
            <a:r>
              <a:t>facts from sources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4389120"/>
            <a:ext cx="2743200" cy="13258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600"/>
              </a:spcBef>
              <a:defRPr sz="1400" b="1">
                <a:solidFill>
                  <a:srgbClr val="FF8C42"/>
                </a:solidFill>
              </a:defRPr>
            </a:pPr>
            <a:r>
              <a:t>Verifier 3: Adversarial</a:t>
            </a:r>
          </a:p>
          <a:p>
            <a:pPr>
              <a:spcBef>
                <a:spcPts val="200"/>
              </a:spcBef>
              <a:defRPr sz="1300" b="1">
                <a:solidFill>
                  <a:srgbClr val="2D2D3F"/>
                </a:solidFill>
              </a:defRPr>
            </a:pPr>
            <a:r>
              <a:t>llama3.1:8b</a:t>
            </a:r>
          </a:p>
          <a:p>
            <a:pPr>
              <a:spcBef>
                <a:spcPts val="200"/>
              </a:spcBef>
              <a:defRPr sz="1100" b="0">
                <a:solidFill>
                  <a:srgbClr val="A0A0A0"/>
                </a:solidFill>
              </a:defRPr>
            </a:pPr>
            <a:r>
              <a:t>Challenges assumptions</a:t>
            </a:r>
            <a:br/>
            <a:r>
              <a:t>and edge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56032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1645920"/>
            <a:ext cx="228600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96D6"/>
                </a:solidFill>
              </a:defRPr>
            </a:pPr>
            <a:r>
              <a:t>Consensus Check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2/3 verifiers must agree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with primary annotation</a:t>
            </a:r>
          </a:p>
          <a:p>
            <a:pPr>
              <a:spcBef>
                <a:spcPts val="400"/>
              </a:spcBef>
              <a:defRPr sz="1300" b="1">
                <a:solidFill>
                  <a:srgbClr val="00C9A7"/>
                </a:solidFill>
              </a:defRPr>
            </a:pPr>
            <a:r>
              <a:t>If yes → Accept</a:t>
            </a:r>
          </a:p>
          <a:p>
            <a:pPr>
              <a:spcBef>
                <a:spcPts val="400"/>
              </a:spcBef>
              <a:defRPr sz="1300" b="1">
                <a:solidFill>
                  <a:srgbClr val="FF5C5C"/>
                </a:solidFill>
              </a:defRPr>
            </a:pPr>
            <a:r>
              <a:t>If no → Reconcile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228600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0">
                <a:solidFill>
                  <a:srgbClr val="A0A0A0"/>
                </a:solidFill>
              </a:defRPr>
            </a:pPr>
            <a: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1645920"/>
            <a:ext cx="21031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5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5C5C"/>
                </a:solidFill>
              </a:defRPr>
            </a:pPr>
            <a:r>
              <a:t>Reconciler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qwen3:14b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Sees ALL opinions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Makes final decision</a:t>
            </a:r>
          </a:p>
          <a:p>
            <a:pPr>
              <a:spcBef>
                <a:spcPts val="400"/>
              </a:spcBef>
              <a:defRPr sz="1200" b="0">
                <a:solidFill>
                  <a:srgbClr val="A0A0A0"/>
                </a:solidFill>
              </a:defRPr>
            </a:pPr>
            <a:r>
              <a:t>with full evidence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46320"/>
            <a:ext cx="11247120" cy="1371600"/>
          </a:xfrm>
          <a:prstGeom prst="roundRect">
            <a:avLst/>
          </a:prstGeom>
          <a:solidFill>
            <a:srgbClr val="FDF0E0"/>
          </a:solidFill>
          <a:ln w="127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1">
                <a:solidFill>
                  <a:srgbClr val="FF8C42"/>
                </a:solidFill>
              </a:defRPr>
            </a:pPr>
            <a:r>
              <a:t>Skip Verification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High-confidence deterministic annotations skip the verification pipeline entirely (e.g., known peptide drugs, registry status = Recruiting)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Publication-anchored annotations with efficacy evidence also skip verification to prevent reconciler from overriding correct calls</a:t>
            </a:r>
          </a:p>
          <a:p>
            <a:pPr>
              <a:spcBef>
                <a:spcPts val="400"/>
              </a:spcBef>
              <a:defRPr sz="1300" b="0">
                <a:solidFill>
                  <a:srgbClr val="2D2D3F"/>
                </a:solidFill>
              </a:defRPr>
            </a:pPr>
            <a:r>
              <a:t>Cognitive diversity: 4 different model families (Google, Alibaba, Meta, Alibaba) reduce systematic bias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Accuracy vs Human Annotators (94-NCT Validation)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A0A0A0"/>
                </a:solidFill>
              </a:defRPr>
            </a:pPr>
            <a:r>
              <a:t>Agent agreement with expert annotator R1 — compared to human inter-annotator agreement (R1 vs R2)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63040"/>
            <a:ext cx="11247120" cy="54864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800"/>
              </a:spcBef>
              <a:defRPr sz="1300" b="1">
                <a:solidFill>
                  <a:srgbClr val="FFFFFF"/>
                </a:solidFill>
              </a:defRPr>
            </a:pPr>
            <a:r>
              <a:t>   Field                     Agent AC₁    Agent %       Human AC₁    Human %       Status             p-value (two-tailed)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7627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096D6"/>
                </a:solidFill>
              </a:defRPr>
            </a:pPr>
            <a: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762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0.903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1762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91.4%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1762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0.919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93.2%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1762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A0A0A0"/>
                </a:solidFill>
              </a:defRPr>
            </a:pPr>
            <a:r>
              <a:t>1.8pp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176272"/>
            <a:ext cx="2103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00C9A7"/>
                </a:solidFill>
              </a:defRPr>
            </a:pPr>
            <a:r>
              <a:t>p=0.82  Not significant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43200"/>
            <a:ext cx="1124712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1635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8C42"/>
                </a:solidFill>
              </a:defRPr>
            </a:pPr>
            <a:r>
              <a:t>Delivery Mode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1635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0.835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81635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85.4%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81635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0.878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1635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88.9%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281635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A0A0A0"/>
                </a:solidFill>
              </a:defRPr>
            </a:pPr>
            <a:r>
              <a:t>3.5pp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816352"/>
            <a:ext cx="2103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00C9A7"/>
                </a:solidFill>
              </a:defRPr>
            </a:pPr>
            <a:r>
              <a:t>p=0.58  Not significant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83279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56431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F5C5C"/>
                </a:solidFill>
              </a:defRPr>
            </a:pPr>
            <a:r>
              <a:t>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45643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0.558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45643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60.5%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45643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0.583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45643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64.3%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45643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0">
                <a:solidFill>
                  <a:srgbClr val="A0A0A0"/>
                </a:solidFill>
              </a:defRPr>
            </a:pPr>
            <a:r>
              <a:t>3.8pp gap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456431"/>
            <a:ext cx="2103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00C9A7"/>
                </a:solidFill>
              </a:defRPr>
            </a:pPr>
            <a:r>
              <a:t>p=0.77  Not significant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23359"/>
            <a:ext cx="1124712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96511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A85CFF"/>
                </a:solidFill>
              </a:defRPr>
            </a:pPr>
            <a:r>
              <a:t>Reason for Failure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09651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0.922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31920" y="409651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92.4%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09651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0.881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96511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88.6%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096511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Above human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096511"/>
            <a:ext cx="2103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00C9A7"/>
                </a:solidFill>
              </a:defRPr>
            </a:pPr>
            <a:r>
              <a:t>p=0.26  Not significant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63440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73659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0C9A7"/>
                </a:solidFill>
              </a:defRPr>
            </a:pPr>
            <a:r>
              <a:t>Peptide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73659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0.826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473659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88.3%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73659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0.792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3659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86.0%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73659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Above human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736592"/>
            <a:ext cx="2103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00C9A7"/>
                </a:solidFill>
              </a:defRPr>
            </a:pPr>
            <a:r>
              <a:t>p=0.76  Not significant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303520"/>
            <a:ext cx="11247120" cy="54864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376672"/>
            <a:ext cx="20116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0096D6"/>
                </a:solidFill>
              </a:defRPr>
            </a:pPr>
            <a:r>
              <a:t>Sequence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53766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0.566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53766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58.3%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12080" y="53766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2D2D3F"/>
                </a:solidFill>
              </a:defRPr>
            </a:pPr>
            <a:r>
              <a:t>0.518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5376672"/>
            <a:ext cx="109728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A0A0A0"/>
                </a:solidFill>
              </a:defRPr>
            </a:pPr>
            <a:r>
              <a:t>52.0%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5376672"/>
            <a:ext cx="16459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300" b="1">
                <a:solidFill>
                  <a:srgbClr val="00C9A7"/>
                </a:solidFill>
              </a:defRPr>
            </a:pPr>
            <a:r>
              <a:t>Above human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18320" y="5376672"/>
            <a:ext cx="2103120" cy="4114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200" b="0">
                <a:solidFill>
                  <a:srgbClr val="00C9A7"/>
                </a:solidFill>
              </a:defRPr>
            </a:pPr>
            <a:r>
              <a:t>p=0.41  Not significant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035040"/>
            <a:ext cx="1124712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200" b="0">
                <a:solidFill>
                  <a:srgbClr val="A0A0A0"/>
                </a:solidFill>
              </a:defRPr>
            </a:pPr>
            <a:r>
              <a:t>Statistical test: Two-tailed z-test on AC₁ difference (SE derived from 95% CI). α = 0.05.</a:t>
            </a:r>
          </a:p>
          <a:p>
            <a:pPr>
              <a:spcBef>
                <a:spcPts val="400"/>
              </a:spcBef>
              <a:defRPr sz="1300" b="1">
                <a:solidFill>
                  <a:srgbClr val="2D2D3F"/>
                </a:solidFill>
              </a:defRPr>
            </a:pPr>
            <a:r>
              <a:t>No field shows a statistically significant difference between agent and human agreement — the agent performs at human-level across all 6 fields.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2D2D3F"/>
                </a:solidFill>
              </a:defRPr>
            </a:pPr>
            <a:r>
              <a:t>Technology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88720"/>
            <a:ext cx="3657600" cy="548640"/>
          </a:xfrm>
          <a:prstGeom prst="roundRect">
            <a:avLst/>
          </a:prstGeom>
          <a:solidFill>
            <a:srgbClr val="009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LLM Models (Local)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qwen3:14b — Primary annotation + reconciliation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gemma2:9b — Verifier (conservative)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qwen2.5:7b — Verifier (evidence-strict)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llama3.1:8b — Verifier (adversarial)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All models run locally via Ollama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No cloud API calls — full data privacy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C9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206240" y="1188720"/>
            <a:ext cx="3657600" cy="548640"/>
          </a:xfrm>
          <a:prstGeom prst="roundRect">
            <a:avLst/>
          </a:prstGeom>
          <a:solidFill>
            <a:srgbClr val="00C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Python + FastAPI (async web framework)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Ollama (local LLM inference server)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Mac Mini M4 (16GB) or Server (240GB+)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LaunchDaemon services (boot on startup)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Git-based auto-updater (30s polling)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Prod: port 8005 | Dev: port 9005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188720"/>
            <a:ext cx="3657600" cy="50292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1188720"/>
            <a:ext cx="3657600" cy="54864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600"/>
              </a:spcBef>
              <a:defRPr sz="1700" b="1">
                <a:solidFill>
                  <a:srgbClr val="FFFFFF"/>
                </a:solidFill>
              </a:defRPr>
            </a:pPr>
            <a: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920240"/>
            <a:ext cx="3291840" cy="411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300" b="0">
                <a:solidFill>
                  <a:srgbClr val="2D2D3F"/>
                </a:solidFill>
              </a:defRPr>
            </a:pPr>
            <a:r>
              <a:t>15 async research agents (parallel HTTP)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HTTPX async client with per-model timeouts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Structured evidence dossier architecture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Publication quality classification (v41)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Efficacy vs safety keyword separation</a:t>
            </a:r>
          </a:p>
          <a:p>
            <a:pPr>
              <a:spcBef>
                <a:spcPts val="1000"/>
              </a:spcBef>
              <a:defRPr sz="1300" b="0">
                <a:solidFill>
                  <a:srgbClr val="2D2D3F"/>
                </a:solidFill>
              </a:defRPr>
            </a:pPr>
            <a:r>
              <a:t>Full JSON audit trail per trial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