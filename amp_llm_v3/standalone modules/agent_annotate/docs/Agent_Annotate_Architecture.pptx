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Agent Annotate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0096D6"/>
                </a:solidFill>
              </a:defRPr>
            </a:pPr>
            <a:r>
              <a:t>Automated Clinical Trial Annotation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A0A0A0"/>
                </a:solidFill>
              </a:defRPr>
            </a:pPr>
            <a:r>
              <a:t>15 Research Agents  |  6 Annotation Fields  |  4-Model Verification  |  20+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Amphoraxe Life Sciences  |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Pipeline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606040" cy="64008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1.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15 agents query 20+ databases</a:t>
            </a:r>
            <a:br/>
            <a:r>
              <a:t>in parallel for each 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5-15 min / 100 trials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371600"/>
            <a:ext cx="2606040" cy="64008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2. Annotate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6 specialized agents extract</a:t>
            </a:r>
            <a:br/>
            <a:r>
              <a:t>structured annotations per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10-30 sec / trial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59" y="1371600"/>
            <a:ext cx="2606040" cy="64008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3.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19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3 independent verifiers +</a:t>
            </a:r>
            <a:br/>
            <a:r>
              <a:t>1 reconciler check every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19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30-45 sec / trial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39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19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8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9719" y="1371600"/>
            <a:ext cx="2606040" cy="64008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4.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79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Structured JSON + CSV</a:t>
            </a:r>
            <a:br/>
            <a:r>
              <a:t>with full audit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79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Instant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29200"/>
            <a:ext cx="11064240" cy="10972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0096D6"/>
                </a:solidFill>
              </a:defRPr>
            </a:pPr>
            <a:r>
              <a:t>Key Stats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Each trial: ~60-90 seconds end-to-end on Mac Mini (qwen3:14b annotation model)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94-NCT validation: Classification 91%, Delivery 85%, Outcome 61%, Peptide 88%, Sequence 58%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Human inter-annotator agreement: Classification 93%, Delivery 89%, Outcome 64%, Peptide 86%, Sequence 52%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1: Research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15 agents query 20+ databases in parallel — no LLM required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2743200" cy="50292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Clinical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65960"/>
            <a:ext cx="27432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ClinicalTrials.gov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Trial protocol, status, results, endpoints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90779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OpenFDA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labels, routes, safety alerts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75818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WHO ICTRP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International trial registrations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371600"/>
            <a:ext cx="2743200" cy="50292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Literature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PubMed / PMC / Europe PMC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Trial publications via NCT ID 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OpenAlex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250M+ works, citation-ranked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66674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Semantic Scholar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200M papers, AI-generated TLDRs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4517136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CrossRef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DOI metadata, fills non-indexed gaps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743200" cy="50292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Drug &amp; Peptide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UniProt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Protein sequences, mature chain lengths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ChEMBL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phase, bioactivity, HELM notation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66674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DBAASP / APD / DRAMP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Antimicrobial peptide databases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517136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RCSB PDB / PDBe / EBI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3D structures, protein features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371600"/>
            <a:ext cx="2743200" cy="50292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Other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A85CFF"/>
                </a:solidFill>
              </a:defRPr>
            </a:pPr>
            <a:r>
              <a:t>IUPHAR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targets &amp; mechanisms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A85CFF"/>
                </a:solidFill>
              </a:defRPr>
            </a:pPr>
            <a:r>
              <a:t>DuckDuckGo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Web context, press releases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Deterministic-First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Known answers are resolved instantly from reference data — the LLM only handles genuinely ambiguous cases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2004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00C9A7"/>
                </a:solidFill>
              </a:defRPr>
            </a:pPr>
            <a:r>
              <a:t>Step 1: Reference Lookup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Match drug name against curated lists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Match against live database hits</a:t>
            </a:r>
          </a:p>
          <a:p>
            <a:pPr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If matched → instant answer, skip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21031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004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FF8C42"/>
                </a:solidFill>
              </a:defRPr>
            </a:pPr>
            <a:r>
              <a:t>Step 2: Structured Rules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Apply deterministic rules on extracted data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p-values, registry status, keywords</a:t>
            </a:r>
          </a:p>
          <a:p>
            <a:pPr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If conclusive → answer, skip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5661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0096D6"/>
                </a:solidFill>
              </a:defRPr>
            </a:pPr>
            <a:r>
              <a:t>Step 3: LLM Reasoning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Only for genuinely ambiguous cases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Novel drugs, borderline evidence, edge cases</a:t>
            </a:r>
          </a:p>
          <a:p>
            <a:pPr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Multi-pass with structured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112471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11247120" cy="50292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    Field                     Reference Lists                              Source of Truth                                              Coverage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69080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8736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Classification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87368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44 known AMPs + 48 known non-AMPs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087368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Pharmacology literature, WHO essential medicines, published AMP 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408736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~30-40% of trials resolved instantly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62272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Peptide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480560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75 known peptides + 39 known non-peptides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480560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DrugBank molecular class, UniProt protein type, published drug profiles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480560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~40-50% of trials resolved instantly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55464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873752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Sequence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873752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66 drugs with mapped sequences + 43 aliases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873752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DBAASP, APD, UniProt databases (verified AA sequences)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4873752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~60% of peptide trials resolved instantly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48656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66944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Outcome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5266944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5 deterministic statuses + structured endpoint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266944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registry status, posted p-values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5266944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~25% of trials resolved instantly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41848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660136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Delivery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5660136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No drug lists — route keywords from protocol + FDA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660136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protocol text, OpenFDA drug labels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5660136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~15% of trials resolved deterministically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035040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05332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Reason for Failure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6053328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No drug lists — whyStopped field from registry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6053328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whyStopped free text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605332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~20% resolved from structured reason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</a:defRPr>
            </a:pPr>
            <a:r>
              <a:t>Why? Established drugs don't need LLM reasoning — colistin is always an AMP, insulin is never one. This eliminates LLM cost, latency, and nondeterminism for known cases.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(1/3)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Classification: Is this an AMP trial?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Is the trial studying an Antimicrobial Peptide?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AMP or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Reference drug lookup (42 known AMPs, 48 known non-AMPs)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Curated from pharmacology literature (colistin, vancomycin, etc.)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Skips LLM for established drugs — speed + consistency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AMP database hits (DRAMP/DBAASP/APD → live lookup)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for novel/ambiguous drugs only: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antimicrobial evidence &amp; mechanism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Decision tree (peptide? direct antimicrobial?)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96D6"/>
                </a:solidFill>
              </a:defRPr>
            </a:pPr>
            <a:r>
              <a:t>Accuracy: 91.4% (vs 93.2% human agreement)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Peptide: Is the drug a peptide?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Is the intervention a peptide molecule (≤100 amino acids)?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True or False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Reference drug lookup (56 known peptides, 30 known non-peptides)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Curated from pharma references (semaglutide, oxytocin, etc.)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Known non-peptides: antibodies, small molecules, nutritional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UniProt/ChEMBL molecular class lookup (live)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for novel/ambiguous drugs only: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molecular class, AA length, DB matches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Decision tree (peptide class? ≤100 AA?)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Safety checks: monoclonal antibody → False, nutritional → False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C9A7"/>
                </a:solidFill>
              </a:defRPr>
            </a:pPr>
            <a:r>
              <a:t>Accuracy: 88.3% (vs 86.0%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00C9A7"/>
                </a:solidFill>
              </a:defRPr>
            </a:pPr>
            <a:r>
              <a:t>Above human inter-annotator ceiling!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(2/3)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Delivery Mode: How is the drug given?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is the route of administration?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Injection/Infusion, Oral, Topical, or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Deterministic extraction from protocol &amp; FDA labels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Route keyword matching (71 keywords across sources)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analysis: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route from protocol, FDA, literature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Classify into canonical delivery category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Not-specified override: if all sources say 'no route', force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FF8C42"/>
                </a:solidFill>
              </a:defRPr>
            </a:pPr>
            <a:r>
              <a:t>Accuracy: 85.4% (vs 88.9% human agreement)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Outcome: Did the trial succeed?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was the trial's clinical outcome?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Positive, Failed, Terminated, Unknown, Recruiting, etc.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v42 Atomic Evidence Decomposition (4 tiers, no single-LLM verdict):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0: Deterministic pre-label (Recruiting, Withdrawn, p&lt;0.05 → Positive)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1a: Structural trial-specificity classifier (no keywords)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3 Y/N checks: NCT-in-body, PMID-in-CT.gov-refs, title-design+drug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1b: Per-publication LLM (gemma3:12b, one focused call)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5 atomic Y/N/UNCLEAR questions + forced evidence_quote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2: Registry signal extractor (status, p-values, ChEMBL phase)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3: Deterministic aggregator (R1–R8 ordered rules, no LLM)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Every verdict carries a named rule + atomic inputs</a:t>
            </a:r>
          </a:p>
          <a:p>
            <a:pPr>
              <a:spcBef>
                <a:spcPts val="400"/>
              </a:spcBef>
              <a:defRPr sz="1300" b="1">
                <a:solidFill>
                  <a:srgbClr val="FF5C5C"/>
                </a:solidFill>
              </a:defRPr>
            </a:pPr>
            <a:r>
              <a:t>Legacy v41b dossier: 60.5% (vs 64.3%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FF5C5C"/>
                </a:solidFill>
              </a:defRPr>
            </a:pPr>
            <a:r>
              <a:t>v42 atomic shadow-mode validation pending (94-NCT run)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(3/3)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8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Reason for Failure: Why did it fail?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If the trial failed, why?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Business Reason, Ineffective, Toxic/Unsafe, Covid, Recruitment, (empty)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Pre-check: skip if outcome is Positive/Recruiting (no failure)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Extract whyStopped field from ClinicalTrials.gov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Investigate failure signals in literature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Classify into failure category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Requires positive evidence of failure reason — never guesses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A85CFF"/>
                </a:solidFill>
              </a:defRPr>
            </a:pPr>
            <a:r>
              <a:t>Accuracy: 92.4% (vs 88.6%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A85CFF"/>
                </a:solidFill>
              </a:defRPr>
            </a:pPr>
            <a:r>
              <a:t>Above human inter-annotator ceiling!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Sequence: What is the AA sequence?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is the peptide's amino acid sequence?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Sequence string (e.g. HAEGTFTSDVSS...) or N/A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 (fully deterministic — no LLM):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Known sequence lookup (~70 drugs with pre-mapped sequences)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Database priority cascade: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DBAASP → APD → ChEMBL HELM → UniProt mature → EBI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Score by source reliability × drug name relevance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Select highest-scoring candidate sequence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0096D6"/>
                </a:solidFill>
              </a:defRPr>
            </a:pPr>
            <a:r>
              <a:t>No LLM needed — pure structured data extraction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96D6"/>
                </a:solidFill>
              </a:defRPr>
            </a:pPr>
            <a:r>
              <a:t>Accuracy: 58.3% (vs 52.0%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0096D6"/>
                </a:solidFill>
              </a:defRPr>
            </a:pPr>
            <a:r>
              <a:t>Above human ceiling! Errors are notation differences (multi-chain, terminal mods)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3: Verification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Every annotation is independently verified by 3 models with different reasoning styles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28600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C9A7"/>
                </a:solidFill>
              </a:defRPr>
            </a:pPr>
            <a:r>
              <a:t>Primary Annotation</a:t>
            </a: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qwen3:14b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Makes the initial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0116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1: Conservative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gemma3:12b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Cautious interpretation</a:t>
            </a:r>
            <a:br/>
            <a:r>
              <a:t>of evidence (Gemma 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88036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2: Evidence-Strict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qwen3:8b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Only cites explicit</a:t>
            </a:r>
            <a:br/>
            <a:r>
              <a:t>facts from sources (Qwen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438912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3: Adversarial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llama3.1:8b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Challenges assumptions</a:t>
            </a:r>
            <a:br/>
            <a:r>
              <a:t>and edge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5603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1645920"/>
            <a:ext cx="228600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96D6"/>
                </a:solidFill>
              </a:defRPr>
            </a:pPr>
            <a:r>
              <a:t>Consensus Check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2/3 verifiers must agree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with primary annotation</a:t>
            </a:r>
          </a:p>
          <a:p>
            <a:pPr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If yes → Accept</a:t>
            </a:r>
          </a:p>
          <a:p>
            <a:pPr>
              <a:spcBef>
                <a:spcPts val="400"/>
              </a:spcBef>
              <a:defRPr sz="1300" b="1">
                <a:solidFill>
                  <a:srgbClr val="FF5C5C"/>
                </a:solidFill>
              </a:defRPr>
            </a:pPr>
            <a:r>
              <a:t>If no → Reconcile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22860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645920"/>
            <a:ext cx="21031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5C5C"/>
                </a:solidFill>
              </a:defRPr>
            </a:pPr>
            <a:r>
              <a:t>Reconciler</a:t>
            </a:r>
          </a:p>
          <a:p>
            <a:pPr>
              <a:spcBef>
                <a:spcPts val="400"/>
              </a:spcBef>
              <a:defRPr sz="1300" b="1">
                <a:solidFill>
                  <a:srgbClr val="2D2D3F"/>
                </a:solidFill>
              </a:defRPr>
            </a:pPr>
            <a:r>
              <a:t>qwen3:14b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Sees ALL opinions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Makes final decision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with full 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46320"/>
            <a:ext cx="11247120" cy="1371600"/>
          </a:xfrm>
          <a:prstGeom prst="roundRect">
            <a:avLst/>
          </a:prstGeom>
          <a:solidFill>
            <a:srgbClr val="FDF0E0"/>
          </a:solidFill>
          <a:ln w="127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FF8C42"/>
                </a:solidFill>
              </a:defRPr>
            </a:pPr>
            <a:r>
              <a:t>Skip Verification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High-confidence deterministic annotations skip the verification pipeline entirely (e.g., known peptide drugs, registry status = Recruiting)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Publication-anchored annotations with efficacy evidence also skip verification to prevent reconciler from overriding correct calls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Cognitive diversity: 4 different model families (Google, Alibaba, Meta, Alibaba) reduce systematic bias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Accuracy vs Human Annotators (94-NCT Validation)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Agent agreement with expert annotator R1 — compared to human inter-annotator agreement (R1 vs R2)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463040"/>
            <a:ext cx="1161288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   Field                  Agent–R1 AC₁  Agent–R2 AC₁  Human AC₁      p (R1)              p (R2)              Interpretation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2103120"/>
            <a:ext cx="1161288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96D6"/>
                </a:solidFill>
              </a:defRPr>
            </a:pPr>
            <a:r>
              <a:t>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1762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0.903 (91%)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762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0.962 (97%)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1762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0.919 (93%)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7627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p=0.82 n.s.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17627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p=0.38 n.s.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2176272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743200"/>
            <a:ext cx="11612880" cy="548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816352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8C42"/>
                </a:solidFill>
              </a:defRPr>
            </a:pPr>
            <a:r>
              <a:t>Delivery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81635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0.835 (85%)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1635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0.854 (88%)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81635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0.878 (89%)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1635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p=0.58 n.s.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81635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p=0.72 n.s.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816352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3383279"/>
            <a:ext cx="1161288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456431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5C5C"/>
                </a:solidFill>
              </a:defRPr>
            </a:pPr>
            <a:r>
              <a:t>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45643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0.558 (60%)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45643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0.557 (60%)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45643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0.583 (64%)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456431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p=0.77 n.s.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456431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p=0.76 n.s.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3456431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" y="4023359"/>
            <a:ext cx="11612880" cy="548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096511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A85CFF"/>
                </a:solidFill>
              </a:defRPr>
            </a:pPr>
            <a:r>
              <a:t>Reason for Failure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09651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0.922 (92%)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09651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0.904 (91%)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096511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0.881 (89%)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1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p=0.26 n.s.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096511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p=0.55 n.s.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4096511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4663440"/>
            <a:ext cx="1161288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736592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C9A7"/>
                </a:solidFill>
              </a:defRPr>
            </a:pPr>
            <a:r>
              <a:t>Peptide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473659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0.826 (88%)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473659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5C5C"/>
                </a:solidFill>
              </a:defRPr>
            </a:pPr>
            <a:r>
              <a:t>0.756 (84%)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473659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0.792 (86%)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3659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p=0.76 n.s.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473659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p=0.70 n.s.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4736592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74320" y="5303520"/>
            <a:ext cx="11612880" cy="548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376672"/>
            <a:ext cx="1828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96D6"/>
                </a:solidFill>
              </a:defRPr>
            </a:pPr>
            <a:r>
              <a:t>Sequence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77440" y="53766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0.566 (58%)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0" y="53766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0.549 (56%)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5376672"/>
            <a:ext cx="1188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A0A0A0"/>
                </a:solidFill>
              </a:defRPr>
            </a:pPr>
            <a:r>
              <a:t>0.518 (52%)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37667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p=0.41 n.s.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8160" y="537667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p=0.60 n.s.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75520" y="5376672"/>
            <a:ext cx="19202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0C9A7"/>
                </a:solidFill>
              </a:defRPr>
            </a:pPr>
            <a:r>
              <a:t>At human level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" y="6035040"/>
            <a:ext cx="11612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</a:defRPr>
            </a:pPr>
            <a:r>
              <a:t>Two-tailed z-test on AC₁ difference (α = 0.05). n.s. = not significant. Green = agent ≥ human, Red = agent &lt; human.</a:t>
            </a:r>
          </a:p>
          <a:p>
            <a:pPr>
              <a:spcBef>
                <a:spcPts val="400"/>
              </a:spcBef>
              <a:defRPr sz="1300" b="1">
                <a:solidFill>
                  <a:srgbClr val="2D2D3F"/>
                </a:solidFill>
              </a:defRPr>
            </a:pPr>
            <a:r>
              <a:t>No field shows a statistically significant difference — the agent performs at human-level across all 6 fields.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If significant AND better: agent outperforms human annotators. If significant AND worse: improvement needed.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3657600" cy="54864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LLM Models (Local)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qwen3:14b — Primary annotation + reconciliation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gemma3:12b — Verifier (conservative) + v42 atomic assessor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qwen3:8b — Verifier (evidence-strict)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llama3.1:8b — Verifier (adversarial)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All models run locally via Ollama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No cloud API calls — full data privacy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0" y="1188720"/>
            <a:ext cx="3657600" cy="54864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Python + FastAPI (async web framework)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Ollama (local LLM inference server)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Mac Mini M4 (16GB) or Server (240GB+)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LaunchDaemon services (boot on startup)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Git-based auto-updater (30s polling)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Prod: port 8005 | Dev: port 9005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1188720"/>
            <a:ext cx="3657600" cy="54864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Data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15 async research agents (parallel HTTP)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HTTPX async client with per-model timeouts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v42 atomic outcome: Tier 0–3 pipeline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Per-publication atomic Y/N/UNCLEAR assessment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Deterministic R1–R8 aggregator — no LLM final decision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Full JSON audit trail per trial + rule trace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