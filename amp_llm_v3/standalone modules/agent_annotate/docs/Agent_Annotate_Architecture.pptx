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Agent Annotate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0">
                <a:solidFill>
                  <a:srgbClr val="0096D6"/>
                </a:solidFill>
              </a:defRPr>
            </a:pPr>
            <a:r>
              <a:t>Automated Clinical Trial Annotation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A0A0A0"/>
                </a:solidFill>
              </a:defRPr>
            </a:pPr>
            <a:r>
              <a:t>15 Research Agents  |  6 Annotation Fields  |  4-Model Verification  |  20+ Data 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A0A0A0"/>
                </a:solidFill>
              </a:defRPr>
            </a:pPr>
            <a:r>
              <a:t>Amphoraxe Life Sciences  | 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2D2D3F"/>
                </a:solidFill>
              </a:defRPr>
            </a:pPr>
            <a:r>
              <a:t>Pipeline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260604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9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2606040" cy="640080"/>
          </a:xfrm>
          <a:prstGeom prst="roundRect">
            <a:avLst/>
          </a:prstGeom>
          <a:solidFill>
            <a:srgbClr val="009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</a:defRPr>
            </a:pPr>
            <a:r>
              <a:t>1.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233172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2D2D3F"/>
                </a:solidFill>
              </a:defRPr>
            </a:pPr>
            <a:r>
              <a:t>15 agents query 20+ databases</a:t>
            </a:r>
            <a:br/>
            <a:r>
              <a:t>in parallel for each trial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931920"/>
            <a:ext cx="2331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A0A0A0"/>
                </a:solidFill>
              </a:defRPr>
            </a:pPr>
            <a:r>
              <a:t>5-15 min / 100 trials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6120" y="2560320"/>
            <a:ext cx="274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0">
                <a:solidFill>
                  <a:srgbClr val="A0A0A0"/>
                </a:solidFill>
              </a:defRPr>
            </a:pPr>
            <a:r>
              <a:t>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371600"/>
            <a:ext cx="260604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29000" y="1371600"/>
            <a:ext cx="2606040" cy="640080"/>
          </a:xfrm>
          <a:prstGeom prst="round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</a:defRPr>
            </a:pPr>
            <a:r>
              <a:t>2. Annotate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194560"/>
            <a:ext cx="233172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2D2D3F"/>
                </a:solidFill>
              </a:defRPr>
            </a:pPr>
            <a:r>
              <a:t>6 specialized agents extract</a:t>
            </a:r>
            <a:br/>
            <a:r>
              <a:t>structured annotations per field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931920"/>
            <a:ext cx="2331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A0A0A0"/>
                </a:solidFill>
              </a:defRPr>
            </a:pPr>
            <a:r>
              <a:t>10-30 sec / trial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560320"/>
            <a:ext cx="274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0">
                <a:solidFill>
                  <a:srgbClr val="A0A0A0"/>
                </a:solidFill>
              </a:defRPr>
            </a:pPr>
            <a:r>
              <a:t>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59" y="1371600"/>
            <a:ext cx="260604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8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09359" y="1371600"/>
            <a:ext cx="2606040" cy="640080"/>
          </a:xfrm>
          <a:prstGeom prst="round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</a:defRPr>
            </a:pPr>
            <a:r>
              <a:t>3. Verify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19" y="2194560"/>
            <a:ext cx="233172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2D2D3F"/>
                </a:solidFill>
              </a:defRPr>
            </a:pPr>
            <a:r>
              <a:t>3 independent verifiers +</a:t>
            </a:r>
            <a:br/>
            <a:r>
              <a:t>1 reconciler check every answer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19" y="3931920"/>
            <a:ext cx="2331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A0A0A0"/>
                </a:solidFill>
              </a:defRPr>
            </a:pPr>
            <a:r>
              <a:t>30-45 sec / trial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39" y="2560320"/>
            <a:ext cx="274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0">
                <a:solidFill>
                  <a:srgbClr val="A0A0A0"/>
                </a:solidFill>
              </a:defRPr>
            </a:pPr>
            <a:r>
              <a:t>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19" y="1371600"/>
            <a:ext cx="260604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A8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89719" y="1371600"/>
            <a:ext cx="2606040" cy="640080"/>
          </a:xfrm>
          <a:prstGeom prst="roundRect">
            <a:avLst/>
          </a:prstGeom>
          <a:solidFill>
            <a:srgbClr val="A8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</a:defRPr>
            </a:pPr>
            <a:r>
              <a:t>4. 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79" y="2194560"/>
            <a:ext cx="233172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2D2D3F"/>
                </a:solidFill>
              </a:defRPr>
            </a:pPr>
            <a:r>
              <a:t>Structured JSON + CSV</a:t>
            </a:r>
            <a:br/>
            <a:r>
              <a:t>with full audit trail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79" y="3931920"/>
            <a:ext cx="2331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A0A0A0"/>
                </a:solidFill>
              </a:defRPr>
            </a:pPr>
            <a:r>
              <a:t>Instant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029200"/>
            <a:ext cx="11064240" cy="109728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009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0096D6"/>
                </a:solidFill>
              </a:defRPr>
            </a:pPr>
            <a:r>
              <a:t>Key Stats</a:t>
            </a:r>
          </a:p>
          <a:p>
            <a:pPr>
              <a:spcBef>
                <a:spcPts val="400"/>
              </a:spcBef>
              <a:defRPr sz="1300" b="0">
                <a:solidFill>
                  <a:srgbClr val="2D2D3F"/>
                </a:solidFill>
              </a:defRPr>
            </a:pPr>
            <a:r>
              <a:t>Each trial: ~60-90 seconds end-to-end on Mac Mini (qwen3:14b annotation model)</a:t>
            </a:r>
          </a:p>
          <a:p>
            <a:pPr>
              <a:spcBef>
                <a:spcPts val="400"/>
              </a:spcBef>
              <a:defRPr sz="1300" b="0">
                <a:solidFill>
                  <a:srgbClr val="2D2D3F"/>
                </a:solidFill>
              </a:defRPr>
            </a:pPr>
            <a:r>
              <a:t>94-NCT validation: Classification 91%, Delivery 85%, Outcome 61%, Peptide 88%, Sequence 58%</a:t>
            </a:r>
          </a:p>
          <a:p>
            <a:pPr>
              <a:spcBef>
                <a:spcPts val="400"/>
              </a:spcBef>
              <a:defRPr sz="1300" b="0">
                <a:solidFill>
                  <a:srgbClr val="2D2D3F"/>
                </a:solidFill>
              </a:defRPr>
            </a:pPr>
            <a:r>
              <a:t>Human inter-annotator agreement: Classification 93%, Delivery 89%, Outcome 64%, Peptide 86%, Sequence 52%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2D2D3F"/>
                </a:solidFill>
              </a:defRPr>
            </a:pPr>
            <a:r>
              <a:t>Phase 1: Research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A0A0A0"/>
                </a:solidFill>
              </a:defRPr>
            </a:pPr>
            <a:r>
              <a:t>15 agents query 20+ databases in parallel — no LLM required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371600"/>
            <a:ext cx="2743200" cy="502920"/>
          </a:xfrm>
          <a:prstGeom prst="roundRect">
            <a:avLst/>
          </a:prstGeom>
          <a:solidFill>
            <a:srgbClr val="009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Clinical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965960"/>
            <a:ext cx="27432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400"/>
              </a:spcBef>
              <a:defRPr sz="1300" b="1">
                <a:solidFill>
                  <a:srgbClr val="0096D6"/>
                </a:solidFill>
              </a:defRPr>
            </a:pPr>
            <a:r>
              <a:t>ClinicalTrials.gov</a:t>
            </a:r>
          </a:p>
          <a:p>
            <a:pPr>
              <a:spcBef>
                <a:spcPts val="200"/>
              </a:spcBef>
              <a:defRPr sz="1100" b="0">
                <a:solidFill>
                  <a:srgbClr val="A0A0A0"/>
                </a:solidFill>
              </a:defRPr>
            </a:pPr>
            <a:r>
              <a:t>Trial protocol, status, results, endpoints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907792"/>
            <a:ext cx="27432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400"/>
              </a:spcBef>
              <a:defRPr sz="1300" b="1">
                <a:solidFill>
                  <a:srgbClr val="0096D6"/>
                </a:solidFill>
              </a:defRPr>
            </a:pPr>
            <a:r>
              <a:t>OpenFDA</a:t>
            </a:r>
          </a:p>
          <a:p>
            <a:pPr>
              <a:spcBef>
                <a:spcPts val="200"/>
              </a:spcBef>
              <a:defRPr sz="1100" b="0">
                <a:solidFill>
                  <a:srgbClr val="A0A0A0"/>
                </a:solidFill>
              </a:defRPr>
            </a:pPr>
            <a:r>
              <a:t>Drug labels, routes, safety alerts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3758184"/>
            <a:ext cx="27432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400"/>
              </a:spcBef>
              <a:defRPr sz="1300" b="1">
                <a:solidFill>
                  <a:srgbClr val="0096D6"/>
                </a:solidFill>
              </a:defRPr>
            </a:pPr>
            <a:r>
              <a:t>WHO ICTRP</a:t>
            </a:r>
          </a:p>
          <a:p>
            <a:pPr>
              <a:spcBef>
                <a:spcPts val="200"/>
              </a:spcBef>
              <a:defRPr sz="1100" b="0">
                <a:solidFill>
                  <a:srgbClr val="A0A0A0"/>
                </a:solidFill>
              </a:defRPr>
            </a:pPr>
            <a:r>
              <a:t>International trial registrations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371600"/>
            <a:ext cx="2743200" cy="502920"/>
          </a:xfrm>
          <a:prstGeom prst="round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Literature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965960"/>
            <a:ext cx="27432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400"/>
              </a:spcBef>
              <a:defRPr sz="1300" b="1">
                <a:solidFill>
                  <a:srgbClr val="00C9A7"/>
                </a:solidFill>
              </a:defRPr>
            </a:pPr>
            <a:r>
              <a:t>PubMed / PMC / Europe PMC</a:t>
            </a:r>
          </a:p>
          <a:p>
            <a:pPr>
              <a:spcBef>
                <a:spcPts val="200"/>
              </a:spcBef>
              <a:defRPr sz="1100" b="0">
                <a:solidFill>
                  <a:srgbClr val="A0A0A0"/>
                </a:solidFill>
              </a:defRPr>
            </a:pPr>
            <a:r>
              <a:t>Trial publications via NCT ID search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2816352"/>
            <a:ext cx="27432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400"/>
              </a:spcBef>
              <a:defRPr sz="1300" b="1">
                <a:solidFill>
                  <a:srgbClr val="00C9A7"/>
                </a:solidFill>
              </a:defRPr>
            </a:pPr>
            <a:r>
              <a:t>OpenAlex</a:t>
            </a:r>
          </a:p>
          <a:p>
            <a:pPr>
              <a:spcBef>
                <a:spcPts val="200"/>
              </a:spcBef>
              <a:defRPr sz="1100" b="0">
                <a:solidFill>
                  <a:srgbClr val="A0A0A0"/>
                </a:solidFill>
              </a:defRPr>
            </a:pPr>
            <a:r>
              <a:t>250M+ works, citation-ranked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3666744"/>
            <a:ext cx="27432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400"/>
              </a:spcBef>
              <a:defRPr sz="1300" b="1">
                <a:solidFill>
                  <a:srgbClr val="00C9A7"/>
                </a:solidFill>
              </a:defRPr>
            </a:pPr>
            <a:r>
              <a:t>Semantic Scholar</a:t>
            </a:r>
          </a:p>
          <a:p>
            <a:pPr>
              <a:spcBef>
                <a:spcPts val="200"/>
              </a:spcBef>
              <a:defRPr sz="1100" b="0">
                <a:solidFill>
                  <a:srgbClr val="A0A0A0"/>
                </a:solidFill>
              </a:defRPr>
            </a:pPr>
            <a:r>
              <a:t>200M papers, AI-generated TLDRs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4517136"/>
            <a:ext cx="27432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400"/>
              </a:spcBef>
              <a:defRPr sz="1300" b="1">
                <a:solidFill>
                  <a:srgbClr val="00C9A7"/>
                </a:solidFill>
              </a:defRPr>
            </a:pPr>
            <a:r>
              <a:t>CrossRef</a:t>
            </a:r>
          </a:p>
          <a:p>
            <a:pPr>
              <a:spcBef>
                <a:spcPts val="200"/>
              </a:spcBef>
              <a:defRPr sz="1100" b="0">
                <a:solidFill>
                  <a:srgbClr val="A0A0A0"/>
                </a:solidFill>
              </a:defRPr>
            </a:pPr>
            <a:r>
              <a:t>DOI metadata, fills non-indexed gaps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2743200" cy="502920"/>
          </a:xfrm>
          <a:prstGeom prst="round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Drug &amp; Peptide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965960"/>
            <a:ext cx="27432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400"/>
              </a:spcBef>
              <a:defRPr sz="1300" b="1">
                <a:solidFill>
                  <a:srgbClr val="FF8C42"/>
                </a:solidFill>
              </a:defRPr>
            </a:pPr>
            <a:r>
              <a:t>UniProt</a:t>
            </a:r>
          </a:p>
          <a:p>
            <a:pPr>
              <a:spcBef>
                <a:spcPts val="200"/>
              </a:spcBef>
              <a:defRPr sz="1100" b="0">
                <a:solidFill>
                  <a:srgbClr val="A0A0A0"/>
                </a:solidFill>
              </a:defRPr>
            </a:pPr>
            <a:r>
              <a:t>Protein sequences, mature chain lengths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816352"/>
            <a:ext cx="27432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400"/>
              </a:spcBef>
              <a:defRPr sz="1300" b="1">
                <a:solidFill>
                  <a:srgbClr val="FF8C42"/>
                </a:solidFill>
              </a:defRPr>
            </a:pPr>
            <a:r>
              <a:t>ChEMBL</a:t>
            </a:r>
          </a:p>
          <a:p>
            <a:pPr>
              <a:spcBef>
                <a:spcPts val="200"/>
              </a:spcBef>
              <a:defRPr sz="1100" b="0">
                <a:solidFill>
                  <a:srgbClr val="A0A0A0"/>
                </a:solidFill>
              </a:defRPr>
            </a:pPr>
            <a:r>
              <a:t>Drug phase, bioactivity, HELM notation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666744"/>
            <a:ext cx="27432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400"/>
              </a:spcBef>
              <a:defRPr sz="1300" b="1">
                <a:solidFill>
                  <a:srgbClr val="FF8C42"/>
                </a:solidFill>
              </a:defRPr>
            </a:pPr>
            <a:r>
              <a:t>DBAASP / APD / DRAMP</a:t>
            </a:r>
          </a:p>
          <a:p>
            <a:pPr>
              <a:spcBef>
                <a:spcPts val="200"/>
              </a:spcBef>
              <a:defRPr sz="1100" b="0">
                <a:solidFill>
                  <a:srgbClr val="A0A0A0"/>
                </a:solidFill>
              </a:defRPr>
            </a:pPr>
            <a:r>
              <a:t>Antimicrobial peptide databases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517136"/>
            <a:ext cx="27432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400"/>
              </a:spcBef>
              <a:defRPr sz="1300" b="1">
                <a:solidFill>
                  <a:srgbClr val="FF8C42"/>
                </a:solidFill>
              </a:defRPr>
            </a:pPr>
            <a:r>
              <a:t>RCSB PDB / PDBe / EBI</a:t>
            </a:r>
          </a:p>
          <a:p>
            <a:pPr>
              <a:spcBef>
                <a:spcPts val="200"/>
              </a:spcBef>
              <a:defRPr sz="1100" b="0">
                <a:solidFill>
                  <a:srgbClr val="A0A0A0"/>
                </a:solidFill>
              </a:defRPr>
            </a:pPr>
            <a:r>
              <a:t>3D structures, protein features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1371600"/>
            <a:ext cx="2743200" cy="502920"/>
          </a:xfrm>
          <a:prstGeom prst="roundRect">
            <a:avLst/>
          </a:prstGeom>
          <a:solidFill>
            <a:srgbClr val="A8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Other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1965960"/>
            <a:ext cx="27432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400"/>
              </a:spcBef>
              <a:defRPr sz="1300" b="1">
                <a:solidFill>
                  <a:srgbClr val="A85CFF"/>
                </a:solidFill>
              </a:defRPr>
            </a:pPr>
            <a:r>
              <a:t>IUPHAR</a:t>
            </a:r>
          </a:p>
          <a:p>
            <a:pPr>
              <a:spcBef>
                <a:spcPts val="200"/>
              </a:spcBef>
              <a:defRPr sz="1100" b="0">
                <a:solidFill>
                  <a:srgbClr val="A0A0A0"/>
                </a:solidFill>
              </a:defRPr>
            </a:pPr>
            <a:r>
              <a:t>Drug targets &amp; mechanisms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2816352"/>
            <a:ext cx="27432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400"/>
              </a:spcBef>
              <a:defRPr sz="1300" b="1">
                <a:solidFill>
                  <a:srgbClr val="A85CFF"/>
                </a:solidFill>
              </a:defRPr>
            </a:pPr>
            <a:r>
              <a:t>DuckDuckGo</a:t>
            </a:r>
          </a:p>
          <a:p>
            <a:pPr>
              <a:spcBef>
                <a:spcPts val="200"/>
              </a:spcBef>
              <a:defRPr sz="1100" b="0">
                <a:solidFill>
                  <a:srgbClr val="A0A0A0"/>
                </a:solidFill>
              </a:defRPr>
            </a:pPr>
            <a:r>
              <a:t>Web context, press releases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2D2D3F"/>
                </a:solidFill>
              </a:defRPr>
            </a:pPr>
            <a:r>
              <a:t>Phase 2: Annotation Agents (1/3)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5486400" cy="5029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9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0" cy="594360"/>
          </a:xfrm>
          <a:prstGeom prst="roundRect">
            <a:avLst/>
          </a:prstGeom>
          <a:solidFill>
            <a:srgbClr val="009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</a:defRPr>
            </a:pPr>
            <a:r>
              <a:t>Classification: Is this an AMP trial?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493776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2D2D3F"/>
                </a:solidFill>
              </a:defRPr>
            </a:pPr>
            <a:r>
              <a:t>Question: Is the trial studying an Antimicrobial Peptide?</a:t>
            </a:r>
          </a:p>
          <a:p>
            <a:pPr>
              <a:spcBef>
                <a:spcPts val="400"/>
              </a:spcBef>
              <a:defRPr sz="1300" b="0">
                <a:solidFill>
                  <a:srgbClr val="A0A0A0"/>
                </a:solidFill>
              </a:defRPr>
            </a:pPr>
            <a:r>
              <a:t>Output: AMP or Other</a:t>
            </a:r>
          </a:p>
          <a:p>
            <a:pPr>
              <a:spcBef>
                <a:spcPts val="400"/>
              </a:spcBef>
              <a:defRPr sz="600" b="0">
                <a:solidFill>
                  <a:srgbClr val="FFFFFF"/>
                </a:solidFill>
              </a:defRPr>
            </a:pPr>
          </a:p>
          <a:p>
            <a:pPr>
              <a:spcBef>
                <a:spcPts val="400"/>
              </a:spcBef>
              <a:defRPr sz="1400" b="1">
                <a:solidFill>
                  <a:srgbClr val="2D2D3F"/>
                </a:solidFill>
              </a:defRPr>
            </a:pPr>
            <a:r>
              <a:t>How it works:</a:t>
            </a:r>
          </a:p>
          <a:p>
            <a:pPr>
              <a:spcBef>
                <a:spcPts val="400"/>
              </a:spcBef>
              <a:defRPr sz="1300" b="0">
                <a:solidFill>
                  <a:srgbClr val="2D2D3F"/>
                </a:solidFill>
              </a:defRPr>
            </a:pPr>
            <a:r>
              <a:t>1. Known AMP drug lookup (deterministic, instant)</a:t>
            </a:r>
          </a:p>
          <a:p>
            <a:pPr>
              <a:spcBef>
                <a:spcPts val="400"/>
              </a:spcBef>
              <a:defRPr sz="1300" b="0">
                <a:solidFill>
                  <a:srgbClr val="2D2D3F"/>
                </a:solidFill>
              </a:defRPr>
            </a:pPr>
            <a:r>
              <a:t>2. DRAMP/DBAASP database hits → high-confidence AMP</a:t>
            </a:r>
          </a:p>
          <a:p>
            <a:pPr>
              <a:spcBef>
                <a:spcPts val="400"/>
              </a:spcBef>
              <a:defRPr sz="1300" b="0">
                <a:solidFill>
                  <a:srgbClr val="2D2D3F"/>
                </a:solidFill>
              </a:defRPr>
            </a:pPr>
            <a:r>
              <a:t>3. Two-pass LLM analysis:</a:t>
            </a:r>
          </a:p>
          <a:p>
            <a:pPr lvl="1">
              <a:spcBef>
                <a:spcPts val="400"/>
              </a:spcBef>
              <a:defRPr sz="1200" b="0">
                <a:solidFill>
                  <a:srgbClr val="A0A0A0"/>
                </a:solidFill>
              </a:defRPr>
            </a:pPr>
            <a:r>
              <a:t>Pass 1: Extract antimicrobial evidence &amp; mechanism</a:t>
            </a:r>
          </a:p>
          <a:p>
            <a:pPr lvl="1">
              <a:spcBef>
                <a:spcPts val="400"/>
              </a:spcBef>
              <a:defRPr sz="1200" b="0">
                <a:solidFill>
                  <a:srgbClr val="A0A0A0"/>
                </a:solidFill>
              </a:defRPr>
            </a:pPr>
            <a:r>
              <a:t>Pass 2: Decision tree (peptide? direct antimicrobial?)</a:t>
            </a:r>
          </a:p>
          <a:p>
            <a:pPr>
              <a:spcBef>
                <a:spcPts val="400"/>
              </a:spcBef>
              <a:defRPr sz="1300" b="0">
                <a:solidFill>
                  <a:srgbClr val="2D2D3F"/>
                </a:solidFill>
              </a:defRPr>
            </a:pPr>
            <a:r>
              <a:t>4. Post-LLM consistency check against database hits</a:t>
            </a:r>
          </a:p>
          <a:p>
            <a:pPr>
              <a:spcBef>
                <a:spcPts val="400"/>
              </a:spcBef>
              <a:defRPr sz="600" b="0">
                <a:solidFill>
                  <a:srgbClr val="FFFFFF"/>
                </a:solidFill>
              </a:defRPr>
            </a:pPr>
          </a:p>
          <a:p>
            <a:pPr>
              <a:spcBef>
                <a:spcPts val="400"/>
              </a:spcBef>
              <a:defRPr sz="1400" b="1">
                <a:solidFill>
                  <a:srgbClr val="0096D6"/>
                </a:solidFill>
              </a:defRPr>
            </a:pPr>
            <a:r>
              <a:t>Accuracy: 91.4% (vs 93.2% human agreement)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188720"/>
            <a:ext cx="5486400" cy="5029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486400" cy="594360"/>
          </a:xfrm>
          <a:prstGeom prst="round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</a:defRPr>
            </a:pPr>
            <a:r>
              <a:t>Peptide: Is the drug a peptide?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920240"/>
            <a:ext cx="493776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2D2D3F"/>
                </a:solidFill>
              </a:defRPr>
            </a:pPr>
            <a:r>
              <a:t>Question: Is the intervention a peptide molecule (≤10 0 amino acids)?</a:t>
            </a:r>
          </a:p>
          <a:p>
            <a:pPr>
              <a:spcBef>
                <a:spcPts val="400"/>
              </a:spcBef>
              <a:defRPr sz="1300" b="0">
                <a:solidFill>
                  <a:srgbClr val="A0A0A0"/>
                </a:solidFill>
              </a:defRPr>
            </a:pPr>
            <a:r>
              <a:t>Output: True or False</a:t>
            </a:r>
          </a:p>
          <a:p>
            <a:pPr>
              <a:spcBef>
                <a:spcPts val="400"/>
              </a:spcBef>
              <a:defRPr sz="600" b="0">
                <a:solidFill>
                  <a:srgbClr val="FFFFFF"/>
                </a:solidFill>
              </a:defRPr>
            </a:pPr>
          </a:p>
          <a:p>
            <a:pPr>
              <a:spcBef>
                <a:spcPts val="400"/>
              </a:spcBef>
              <a:defRPr sz="1400" b="1">
                <a:solidFill>
                  <a:srgbClr val="2D2D3F"/>
                </a:solidFill>
              </a:defRPr>
            </a:pPr>
            <a:r>
              <a:t>How it works:</a:t>
            </a:r>
          </a:p>
          <a:p>
            <a:pPr>
              <a:spcBef>
                <a:spcPts val="400"/>
              </a:spcBef>
              <a:defRPr sz="1300" b="0">
                <a:solidFill>
                  <a:srgbClr val="2D2D3F"/>
                </a:solidFill>
              </a:defRPr>
            </a:pPr>
            <a:r>
              <a:t>1. Known peptide drug list (~250 drugs, deterministic)</a:t>
            </a:r>
          </a:p>
          <a:p>
            <a:pPr>
              <a:spcBef>
                <a:spcPts val="400"/>
              </a:spcBef>
              <a:defRPr sz="1300" b="0">
                <a:solidFill>
                  <a:srgbClr val="2D2D3F"/>
                </a:solidFill>
              </a:defRPr>
            </a:pPr>
            <a:r>
              <a:t>2. UniProt/ChEMBL molecular class lookup</a:t>
            </a:r>
          </a:p>
          <a:p>
            <a:pPr>
              <a:spcBef>
                <a:spcPts val="400"/>
              </a:spcBef>
              <a:defRPr sz="1300" b="0">
                <a:solidFill>
                  <a:srgbClr val="2D2D3F"/>
                </a:solidFill>
              </a:defRPr>
            </a:pPr>
            <a:r>
              <a:t>3. Two-pass LLM analysis:</a:t>
            </a:r>
          </a:p>
          <a:p>
            <a:pPr lvl="1">
              <a:spcBef>
                <a:spcPts val="400"/>
              </a:spcBef>
              <a:defRPr sz="1200" b="0">
                <a:solidFill>
                  <a:srgbClr val="A0A0A0"/>
                </a:solidFill>
              </a:defRPr>
            </a:pPr>
            <a:r>
              <a:t>Pass 1: Extract molecular class, AA length, DB matches</a:t>
            </a:r>
          </a:p>
          <a:p>
            <a:pPr lvl="1">
              <a:spcBef>
                <a:spcPts val="400"/>
              </a:spcBef>
              <a:defRPr sz="1200" b="0">
                <a:solidFill>
                  <a:srgbClr val="A0A0A0"/>
                </a:solidFill>
              </a:defRPr>
            </a:pPr>
            <a:r>
              <a:t>Pass 2: Decision tree (peptide class? ≤100 AA?)</a:t>
            </a:r>
          </a:p>
          <a:p>
            <a:pPr>
              <a:spcBef>
                <a:spcPts val="400"/>
              </a:spcBef>
              <a:defRPr sz="1300" b="0">
                <a:solidFill>
                  <a:srgbClr val="2D2D3F"/>
                </a:solidFill>
              </a:defRPr>
            </a:pPr>
            <a:r>
              <a:t>4. Safety checks: monoclonal antibody → False, nutritional → False</a:t>
            </a:r>
          </a:p>
          <a:p>
            <a:pPr>
              <a:spcBef>
                <a:spcPts val="400"/>
              </a:spcBef>
              <a:defRPr sz="600" b="0">
                <a:solidFill>
                  <a:srgbClr val="FFFFFF"/>
                </a:solidFill>
              </a:defRPr>
            </a:pPr>
          </a:p>
          <a:p>
            <a:pPr>
              <a:spcBef>
                <a:spcPts val="400"/>
              </a:spcBef>
              <a:defRPr sz="1400" b="1">
                <a:solidFill>
                  <a:srgbClr val="00C9A7"/>
                </a:solidFill>
              </a:defRPr>
            </a:pPr>
            <a:r>
              <a:t>Accuracy: 88.3% (vs 86.0% human agreement)</a:t>
            </a:r>
          </a:p>
          <a:p>
            <a:pPr>
              <a:spcBef>
                <a:spcPts val="400"/>
              </a:spcBef>
              <a:defRPr sz="1200" b="0">
                <a:solidFill>
                  <a:srgbClr val="00C9A7"/>
                </a:solidFill>
              </a:defRPr>
            </a:pPr>
            <a:r>
              <a:t>Above human inter-annotator ceiling!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2D2D3F"/>
                </a:solidFill>
              </a:defRPr>
            </a:pPr>
            <a:r>
              <a:t>Phase 2: Annotation Agents (2/3)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5486400" cy="5029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8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0" cy="594360"/>
          </a:xfrm>
          <a:prstGeom prst="round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</a:defRPr>
            </a:pPr>
            <a:r>
              <a:t>Delivery Mode: How is the drug given?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493776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2D2D3F"/>
                </a:solidFill>
              </a:defRPr>
            </a:pPr>
            <a:r>
              <a:t>Question: What is the route of administration?</a:t>
            </a:r>
          </a:p>
          <a:p>
            <a:pPr>
              <a:spcBef>
                <a:spcPts val="400"/>
              </a:spcBef>
              <a:defRPr sz="1300" b="0">
                <a:solidFill>
                  <a:srgbClr val="A0A0A0"/>
                </a:solidFill>
              </a:defRPr>
            </a:pPr>
            <a:r>
              <a:t>Output: Injection/Infusion, Oral, Topical, or Other</a:t>
            </a:r>
          </a:p>
          <a:p>
            <a:pPr>
              <a:spcBef>
                <a:spcPts val="400"/>
              </a:spcBef>
              <a:defRPr sz="600" b="0">
                <a:solidFill>
                  <a:srgbClr val="FFFFFF"/>
                </a:solidFill>
              </a:defRPr>
            </a:pPr>
          </a:p>
          <a:p>
            <a:pPr>
              <a:spcBef>
                <a:spcPts val="400"/>
              </a:spcBef>
              <a:defRPr sz="1400" b="1">
                <a:solidFill>
                  <a:srgbClr val="2D2D3F"/>
                </a:solidFill>
              </a:defRPr>
            </a:pPr>
            <a:r>
              <a:t>How it works:</a:t>
            </a:r>
          </a:p>
          <a:p>
            <a:pPr>
              <a:spcBef>
                <a:spcPts val="400"/>
              </a:spcBef>
              <a:defRPr sz="1300" b="0">
                <a:solidFill>
                  <a:srgbClr val="2D2D3F"/>
                </a:solidFill>
              </a:defRPr>
            </a:pPr>
            <a:r>
              <a:t>1. Deterministic extraction from protocol &amp; FDA labels</a:t>
            </a:r>
          </a:p>
          <a:p>
            <a:pPr>
              <a:spcBef>
                <a:spcPts val="400"/>
              </a:spcBef>
              <a:defRPr sz="1300" b="0">
                <a:solidFill>
                  <a:srgbClr val="2D2D3F"/>
                </a:solidFill>
              </a:defRPr>
            </a:pPr>
            <a:r>
              <a:t>2. Route keyword matching (71 keywords across sources)</a:t>
            </a:r>
          </a:p>
          <a:p>
            <a:pPr>
              <a:spcBef>
                <a:spcPts val="400"/>
              </a:spcBef>
              <a:defRPr sz="1300" b="0">
                <a:solidFill>
                  <a:srgbClr val="2D2D3F"/>
                </a:solidFill>
              </a:defRPr>
            </a:pPr>
            <a:r>
              <a:t>3. Two-pass LLM analysis:</a:t>
            </a:r>
          </a:p>
          <a:p>
            <a:pPr lvl="1">
              <a:spcBef>
                <a:spcPts val="400"/>
              </a:spcBef>
              <a:defRPr sz="1200" b="0">
                <a:solidFill>
                  <a:srgbClr val="A0A0A0"/>
                </a:solidFill>
              </a:defRPr>
            </a:pPr>
            <a:r>
              <a:t>Pass 1: Extract route from protocol, FDA, literature</a:t>
            </a:r>
          </a:p>
          <a:p>
            <a:pPr lvl="1">
              <a:spcBef>
                <a:spcPts val="400"/>
              </a:spcBef>
              <a:defRPr sz="1200" b="0">
                <a:solidFill>
                  <a:srgbClr val="A0A0A0"/>
                </a:solidFill>
              </a:defRPr>
            </a:pPr>
            <a:r>
              <a:t>Pass 2: Classify into canonical delivery category</a:t>
            </a:r>
          </a:p>
          <a:p>
            <a:pPr>
              <a:spcBef>
                <a:spcPts val="400"/>
              </a:spcBef>
              <a:defRPr sz="1300" b="0">
                <a:solidFill>
                  <a:srgbClr val="2D2D3F"/>
                </a:solidFill>
              </a:defRPr>
            </a:pPr>
            <a:r>
              <a:t>4. Not-specified override: if all sources say 'no route', force Other</a:t>
            </a:r>
          </a:p>
          <a:p>
            <a:pPr>
              <a:spcBef>
                <a:spcPts val="400"/>
              </a:spcBef>
              <a:defRPr sz="600" b="0">
                <a:solidFill>
                  <a:srgbClr val="FFFFFF"/>
                </a:solidFill>
              </a:defRPr>
            </a:pPr>
          </a:p>
          <a:p>
            <a:pPr>
              <a:spcBef>
                <a:spcPts val="400"/>
              </a:spcBef>
              <a:defRPr sz="1400" b="1">
                <a:solidFill>
                  <a:srgbClr val="FF8C42"/>
                </a:solidFill>
              </a:defRPr>
            </a:pPr>
            <a:r>
              <a:t>Accuracy: 85.4% (vs 88.9% human agreement)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188720"/>
            <a:ext cx="5486400" cy="5029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5C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486400" cy="594360"/>
          </a:xfrm>
          <a:prstGeom prst="roundRect">
            <a:avLst/>
          </a:prstGeom>
          <a:solidFill>
            <a:srgbClr val="FF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</a:defRPr>
            </a:pPr>
            <a:r>
              <a:t>Outcome: Did the trial succeed?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920240"/>
            <a:ext cx="493776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2D2D3F"/>
                </a:solidFill>
              </a:defRPr>
            </a:pPr>
            <a:r>
              <a:t>Question: What was the trial's clinical outcome?</a:t>
            </a:r>
          </a:p>
          <a:p>
            <a:pPr>
              <a:spcBef>
                <a:spcPts val="400"/>
              </a:spcBef>
              <a:defRPr sz="1300" b="0">
                <a:solidFill>
                  <a:srgbClr val="A0A0A0"/>
                </a:solidFill>
              </a:defRPr>
            </a:pPr>
            <a:r>
              <a:t>Output: Positive, Failed, Terminated, Unknown, Recruiting, etc.</a:t>
            </a:r>
          </a:p>
          <a:p>
            <a:pPr>
              <a:spcBef>
                <a:spcPts val="400"/>
              </a:spcBef>
              <a:defRPr sz="600" b="0">
                <a:solidFill>
                  <a:srgbClr val="FFFFFF"/>
                </a:solidFill>
              </a:defRPr>
            </a:pPr>
          </a:p>
          <a:p>
            <a:pPr>
              <a:spcBef>
                <a:spcPts val="400"/>
              </a:spcBef>
              <a:defRPr sz="1400" b="1">
                <a:solidFill>
                  <a:srgbClr val="2D2D3F"/>
                </a:solidFill>
              </a:defRPr>
            </a:pPr>
            <a:r>
              <a:t>How it works (4-tier dossier architecture):</a:t>
            </a:r>
          </a:p>
          <a:p>
            <a:pPr>
              <a:spcBef>
                <a:spcPts val="400"/>
              </a:spcBef>
              <a:defRPr sz="1300" b="0">
                <a:solidFill>
                  <a:srgbClr val="2D2D3F"/>
                </a:solidFill>
              </a:defRPr>
            </a:pPr>
            <a:r>
              <a:t>Tier 1: Deterministic status mapping (Recruiting, Withdrawn)</a:t>
            </a:r>
          </a:p>
          <a:p>
            <a:pPr>
              <a:spcBef>
                <a:spcPts val="400"/>
              </a:spcBef>
              <a:defRPr sz="1300" b="0">
                <a:solidFill>
                  <a:srgbClr val="2D2D3F"/>
                </a:solidFill>
              </a:defRPr>
            </a:pPr>
            <a:r>
              <a:t>Tier 2: Structured evidence dossier (no LLM yet)</a:t>
            </a:r>
          </a:p>
          <a:p>
            <a:pPr lvl="1">
              <a:spcBef>
                <a:spcPts val="400"/>
              </a:spcBef>
              <a:defRPr sz="1200" b="0">
                <a:solidFill>
                  <a:srgbClr val="A0A0A0"/>
                </a:solidFill>
              </a:defRPr>
            </a:pPr>
            <a:r>
              <a:t>Extracts: status, results, endpoints, p-values, publications</a:t>
            </a:r>
          </a:p>
          <a:p>
            <a:pPr lvl="1">
              <a:spcBef>
                <a:spcPts val="400"/>
              </a:spcBef>
              <a:defRPr sz="1200" b="0">
                <a:solidFill>
                  <a:srgbClr val="A0A0A0"/>
                </a:solidFill>
              </a:defRPr>
            </a:pPr>
            <a:r>
              <a:t>Classifies publications as trial-specific vs reviews</a:t>
            </a:r>
          </a:p>
          <a:p>
            <a:pPr lvl="1">
              <a:spcBef>
                <a:spcPts val="400"/>
              </a:spcBef>
              <a:defRPr sz="1200" b="0">
                <a:solidFill>
                  <a:srgbClr val="A0A0A0"/>
                </a:solidFill>
              </a:defRPr>
            </a:pPr>
            <a:r>
              <a:t>Separates efficacy vs safety-only signals</a:t>
            </a:r>
          </a:p>
          <a:p>
            <a:pPr>
              <a:spcBef>
                <a:spcPts val="400"/>
              </a:spcBef>
              <a:defRPr sz="1300" b="0">
                <a:solidFill>
                  <a:srgbClr val="2D2D3F"/>
                </a:solidFill>
              </a:defRPr>
            </a:pPr>
            <a:r>
              <a:t>Tier 3: Deterministic rules (p&lt;0.05 → Positive, futility → Failed)</a:t>
            </a:r>
          </a:p>
          <a:p>
            <a:pPr>
              <a:spcBef>
                <a:spcPts val="400"/>
              </a:spcBef>
              <a:defRPr sz="1300" b="0">
                <a:solidFill>
                  <a:srgbClr val="2D2D3F"/>
                </a:solidFill>
              </a:defRPr>
            </a:pPr>
            <a:r>
              <a:t>Tier 4: LLM with structured dossier (hardest cases only)</a:t>
            </a:r>
          </a:p>
          <a:p>
            <a:pPr>
              <a:spcBef>
                <a:spcPts val="400"/>
              </a:spcBef>
              <a:defRPr sz="600" b="0">
                <a:solidFill>
                  <a:srgbClr val="FFFFFF"/>
                </a:solidFill>
              </a:defRPr>
            </a:pPr>
          </a:p>
          <a:p>
            <a:pPr>
              <a:spcBef>
                <a:spcPts val="400"/>
              </a:spcBef>
              <a:defRPr sz="1400" b="1">
                <a:solidFill>
                  <a:srgbClr val="FF5C5C"/>
                </a:solidFill>
              </a:defRPr>
            </a:pPr>
            <a:r>
              <a:t>Accuracy: 60.5% (vs 64.3% human agreement)</a:t>
            </a:r>
          </a:p>
          <a:p>
            <a:pPr>
              <a:spcBef>
                <a:spcPts val="400"/>
              </a:spcBef>
              <a:defRPr sz="1200" b="0">
                <a:solidFill>
                  <a:srgbClr val="FF5C5C"/>
                </a:solidFill>
              </a:defRPr>
            </a:pPr>
            <a:r>
              <a:t>Hardest field — even humans disagree 36% of the time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2D2D3F"/>
                </a:solidFill>
              </a:defRPr>
            </a:pPr>
            <a:r>
              <a:t>Phase 2: Annotation Agents (3/3)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5486400" cy="5029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A8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0" cy="594360"/>
          </a:xfrm>
          <a:prstGeom prst="roundRect">
            <a:avLst/>
          </a:prstGeom>
          <a:solidFill>
            <a:srgbClr val="A8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</a:defRPr>
            </a:pPr>
            <a:r>
              <a:t>Reason for Failure: Why did it fail?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493776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2D2D3F"/>
                </a:solidFill>
              </a:defRPr>
            </a:pPr>
            <a:r>
              <a:t>Question: If the trial failed, why?</a:t>
            </a:r>
          </a:p>
          <a:p>
            <a:pPr>
              <a:spcBef>
                <a:spcPts val="400"/>
              </a:spcBef>
              <a:defRPr sz="1300" b="0">
                <a:solidFill>
                  <a:srgbClr val="A0A0A0"/>
                </a:solidFill>
              </a:defRPr>
            </a:pPr>
            <a:r>
              <a:t>Output: Business Reason, Ineffective, Toxic/Unsafe, Covid, Recruitment, (empty)</a:t>
            </a:r>
          </a:p>
          <a:p>
            <a:pPr>
              <a:spcBef>
                <a:spcPts val="400"/>
              </a:spcBef>
              <a:defRPr sz="600" b="0">
                <a:solidFill>
                  <a:srgbClr val="FFFFFF"/>
                </a:solidFill>
              </a:defRPr>
            </a:pPr>
          </a:p>
          <a:p>
            <a:pPr>
              <a:spcBef>
                <a:spcPts val="400"/>
              </a:spcBef>
              <a:defRPr sz="1400" b="1">
                <a:solidFill>
                  <a:srgbClr val="2D2D3F"/>
                </a:solidFill>
              </a:defRPr>
            </a:pPr>
            <a:r>
              <a:t>How it works:</a:t>
            </a:r>
          </a:p>
          <a:p>
            <a:pPr>
              <a:spcBef>
                <a:spcPts val="400"/>
              </a:spcBef>
              <a:defRPr sz="1300" b="0">
                <a:solidFill>
                  <a:srgbClr val="2D2D3F"/>
                </a:solidFill>
              </a:defRPr>
            </a:pPr>
            <a:r>
              <a:t>1. Pre-check: skip if outcome is Positive/Recruiting (no failure)</a:t>
            </a:r>
          </a:p>
          <a:p>
            <a:pPr>
              <a:spcBef>
                <a:spcPts val="400"/>
              </a:spcBef>
              <a:defRPr sz="1300" b="0">
                <a:solidFill>
                  <a:srgbClr val="2D2D3F"/>
                </a:solidFill>
              </a:defRPr>
            </a:pPr>
            <a:r>
              <a:t>2. Extract whyStopped field from ClinicalTrials.gov</a:t>
            </a:r>
          </a:p>
          <a:p>
            <a:pPr>
              <a:spcBef>
                <a:spcPts val="400"/>
              </a:spcBef>
              <a:defRPr sz="1300" b="0">
                <a:solidFill>
                  <a:srgbClr val="2D2D3F"/>
                </a:solidFill>
              </a:defRPr>
            </a:pPr>
            <a:r>
              <a:t>3. Two-pass LLM:</a:t>
            </a:r>
          </a:p>
          <a:p>
            <a:pPr lvl="1">
              <a:spcBef>
                <a:spcPts val="400"/>
              </a:spcBef>
              <a:defRPr sz="1200" b="0">
                <a:solidFill>
                  <a:srgbClr val="A0A0A0"/>
                </a:solidFill>
              </a:defRPr>
            </a:pPr>
            <a:r>
              <a:t>Pass 1: Investigate failure signals in literature</a:t>
            </a:r>
          </a:p>
          <a:p>
            <a:pPr lvl="1">
              <a:spcBef>
                <a:spcPts val="400"/>
              </a:spcBef>
              <a:defRPr sz="1200" b="0">
                <a:solidFill>
                  <a:srgbClr val="A0A0A0"/>
                </a:solidFill>
              </a:defRPr>
            </a:pPr>
            <a:r>
              <a:t>Pass 2: Classify into failure category</a:t>
            </a:r>
          </a:p>
          <a:p>
            <a:pPr>
              <a:spcBef>
                <a:spcPts val="400"/>
              </a:spcBef>
              <a:defRPr sz="1300" b="0">
                <a:solidFill>
                  <a:srgbClr val="2D2D3F"/>
                </a:solidFill>
              </a:defRPr>
            </a:pPr>
            <a:r>
              <a:t>4. Requires positive evidence of failure reason — never guesses</a:t>
            </a:r>
          </a:p>
          <a:p>
            <a:pPr>
              <a:spcBef>
                <a:spcPts val="400"/>
              </a:spcBef>
              <a:defRPr sz="600" b="0">
                <a:solidFill>
                  <a:srgbClr val="FFFFFF"/>
                </a:solidFill>
              </a:defRPr>
            </a:pPr>
          </a:p>
          <a:p>
            <a:pPr>
              <a:spcBef>
                <a:spcPts val="400"/>
              </a:spcBef>
              <a:defRPr sz="1400" b="1">
                <a:solidFill>
                  <a:srgbClr val="A85CFF"/>
                </a:solidFill>
              </a:defRPr>
            </a:pPr>
            <a:r>
              <a:t>Accuracy: 92.4% (vs 88.6% human agreement)</a:t>
            </a:r>
          </a:p>
          <a:p>
            <a:pPr>
              <a:spcBef>
                <a:spcPts val="400"/>
              </a:spcBef>
              <a:defRPr sz="1200" b="0">
                <a:solidFill>
                  <a:srgbClr val="A85CFF"/>
                </a:solidFill>
              </a:defRPr>
            </a:pPr>
            <a:r>
              <a:t>Above human inter-annotator ceiling!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188720"/>
            <a:ext cx="5486400" cy="5029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9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486400" cy="594360"/>
          </a:xfrm>
          <a:prstGeom prst="roundRect">
            <a:avLst/>
          </a:prstGeom>
          <a:solidFill>
            <a:srgbClr val="009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</a:defRPr>
            </a:pPr>
            <a:r>
              <a:t>Sequence: What is the AA sequence?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920240"/>
            <a:ext cx="493776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2D2D3F"/>
                </a:solidFill>
              </a:defRPr>
            </a:pPr>
            <a:r>
              <a:t>Question: What is the peptide's amino acid sequence?</a:t>
            </a:r>
          </a:p>
          <a:p>
            <a:pPr>
              <a:spcBef>
                <a:spcPts val="400"/>
              </a:spcBef>
              <a:defRPr sz="1300" b="0">
                <a:solidFill>
                  <a:srgbClr val="A0A0A0"/>
                </a:solidFill>
              </a:defRPr>
            </a:pPr>
            <a:r>
              <a:t>Output: Sequence string (e.g. HAEGTFTSDVSS...) or N/A</a:t>
            </a:r>
          </a:p>
          <a:p>
            <a:pPr>
              <a:spcBef>
                <a:spcPts val="400"/>
              </a:spcBef>
              <a:defRPr sz="600" b="0">
                <a:solidFill>
                  <a:srgbClr val="FFFFFF"/>
                </a:solidFill>
              </a:defRPr>
            </a:pPr>
          </a:p>
          <a:p>
            <a:pPr>
              <a:spcBef>
                <a:spcPts val="400"/>
              </a:spcBef>
              <a:defRPr sz="1400" b="1">
                <a:solidFill>
                  <a:srgbClr val="2D2D3F"/>
                </a:solidFill>
              </a:defRPr>
            </a:pPr>
            <a:r>
              <a:t>How it works (fully deterministic — no LLM):</a:t>
            </a:r>
          </a:p>
          <a:p>
            <a:pPr>
              <a:spcBef>
                <a:spcPts val="400"/>
              </a:spcBef>
              <a:defRPr sz="1300" b="0">
                <a:solidFill>
                  <a:srgbClr val="2D2D3F"/>
                </a:solidFill>
              </a:defRPr>
            </a:pPr>
            <a:r>
              <a:t>1. Known sequence lookup (~70 drugs with pre-mapped sequences)</a:t>
            </a:r>
          </a:p>
          <a:p>
            <a:pPr>
              <a:spcBef>
                <a:spcPts val="400"/>
              </a:spcBef>
              <a:defRPr sz="1300" b="0">
                <a:solidFill>
                  <a:srgbClr val="2D2D3F"/>
                </a:solidFill>
              </a:defRPr>
            </a:pPr>
            <a:r>
              <a:t>2. Database priority cascade:</a:t>
            </a:r>
          </a:p>
          <a:p>
            <a:pPr lvl="1">
              <a:spcBef>
                <a:spcPts val="400"/>
              </a:spcBef>
              <a:defRPr sz="1200" b="0">
                <a:solidFill>
                  <a:srgbClr val="A0A0A0"/>
                </a:solidFill>
              </a:defRPr>
            </a:pPr>
            <a:r>
              <a:t>DBAASP → APD → ChEMBL HELM → UniProt mature → EBI</a:t>
            </a:r>
          </a:p>
          <a:p>
            <a:pPr>
              <a:spcBef>
                <a:spcPts val="400"/>
              </a:spcBef>
              <a:defRPr sz="1300" b="0">
                <a:solidFill>
                  <a:srgbClr val="2D2D3F"/>
                </a:solidFill>
              </a:defRPr>
            </a:pPr>
            <a:r>
              <a:t>3. Score by source reliability × drug name relevance</a:t>
            </a:r>
          </a:p>
          <a:p>
            <a:pPr>
              <a:spcBef>
                <a:spcPts val="400"/>
              </a:spcBef>
              <a:defRPr sz="1300" b="0">
                <a:solidFill>
                  <a:srgbClr val="2D2D3F"/>
                </a:solidFill>
              </a:defRPr>
            </a:pPr>
            <a:r>
              <a:t>4. Select highest-scoring candidate sequence</a:t>
            </a:r>
          </a:p>
          <a:p>
            <a:pPr>
              <a:spcBef>
                <a:spcPts val="400"/>
              </a:spcBef>
              <a:defRPr sz="600" b="0">
                <a:solidFill>
                  <a:srgbClr val="FFFFFF"/>
                </a:solidFill>
              </a:defRPr>
            </a:pPr>
          </a:p>
          <a:p>
            <a:pPr>
              <a:spcBef>
                <a:spcPts val="400"/>
              </a:spcBef>
              <a:defRPr sz="1300" b="0">
                <a:solidFill>
                  <a:srgbClr val="0096D6"/>
                </a:solidFill>
              </a:defRPr>
            </a:pPr>
            <a:r>
              <a:t>No LLM needed — pure structured data extraction</a:t>
            </a:r>
          </a:p>
          <a:p>
            <a:pPr>
              <a:spcBef>
                <a:spcPts val="400"/>
              </a:spcBef>
              <a:defRPr sz="400" b="0">
                <a:solidFill>
                  <a:srgbClr val="FFFFFF"/>
                </a:solidFill>
              </a:defRPr>
            </a:pPr>
          </a:p>
          <a:p>
            <a:pPr>
              <a:spcBef>
                <a:spcPts val="400"/>
              </a:spcBef>
              <a:defRPr sz="1400" b="1">
                <a:solidFill>
                  <a:srgbClr val="0096D6"/>
                </a:solidFill>
              </a:defRPr>
            </a:pPr>
            <a:r>
              <a:t>Accuracy: 58.3% (vs 52.0% human agreement)</a:t>
            </a:r>
          </a:p>
          <a:p>
            <a:pPr>
              <a:spcBef>
                <a:spcPts val="400"/>
              </a:spcBef>
              <a:defRPr sz="1200" b="0">
                <a:solidFill>
                  <a:srgbClr val="0096D6"/>
                </a:solidFill>
              </a:defRPr>
            </a:pPr>
            <a:r>
              <a:t>Above human ceiling! Errors are notation differences (multi-chain, terminal mods)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2D2D3F"/>
                </a:solidFill>
              </a:defRPr>
            </a:pPr>
            <a:r>
              <a:t>Phase 3: Verification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A0A0A0"/>
                </a:solidFill>
              </a:defRPr>
            </a:pPr>
            <a:r>
              <a:t>Every annotation is independently verified by 3 models with different reasoning styles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228600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C9A7"/>
                </a:solidFill>
              </a:defRPr>
            </a:pPr>
            <a:r>
              <a:t>Primary Annotation</a:t>
            </a:r>
          </a:p>
          <a:p>
            <a:pPr>
              <a:spcBef>
                <a:spcPts val="400"/>
              </a:spcBef>
              <a:defRPr sz="1400" b="1">
                <a:solidFill>
                  <a:srgbClr val="2D2D3F"/>
                </a:solidFill>
              </a:defRPr>
            </a:pPr>
            <a:r>
              <a:t>qwen3:14b</a:t>
            </a:r>
          </a:p>
          <a:p>
            <a:pPr>
              <a:spcBef>
                <a:spcPts val="400"/>
              </a:spcBef>
              <a:defRPr sz="1200" b="0">
                <a:solidFill>
                  <a:srgbClr val="A0A0A0"/>
                </a:solidFill>
              </a:defRPr>
            </a:pPr>
            <a:r>
              <a:t>Makes the initial call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201168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0">
                <a:solidFill>
                  <a:srgbClr val="A0A0A0"/>
                </a:solidFill>
              </a:defRPr>
            </a:pPr>
            <a:r>
              <a:t>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371600"/>
            <a:ext cx="2743200" cy="1325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8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600"/>
              </a:spcBef>
              <a:defRPr sz="1400" b="1">
                <a:solidFill>
                  <a:srgbClr val="FF8C42"/>
                </a:solidFill>
              </a:defRPr>
            </a:pPr>
            <a:r>
              <a:t>Verifier 1: Conservative</a:t>
            </a:r>
          </a:p>
          <a:p>
            <a:pPr>
              <a:spcBef>
                <a:spcPts val="200"/>
              </a:spcBef>
              <a:defRPr sz="1300" b="1">
                <a:solidFill>
                  <a:srgbClr val="2D2D3F"/>
                </a:solidFill>
              </a:defRPr>
            </a:pPr>
            <a:r>
              <a:t>gemma2:9b</a:t>
            </a:r>
          </a:p>
          <a:p>
            <a:pPr>
              <a:spcBef>
                <a:spcPts val="200"/>
              </a:spcBef>
              <a:defRPr sz="1100" b="0">
                <a:solidFill>
                  <a:srgbClr val="A0A0A0"/>
                </a:solidFill>
              </a:defRPr>
            </a:pPr>
            <a:r>
              <a:t>Cautious interpretation</a:t>
            </a:r>
            <a:br/>
            <a:r>
              <a:t>of evidence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2880360"/>
            <a:ext cx="2743200" cy="1325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8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600"/>
              </a:spcBef>
              <a:defRPr sz="1400" b="1">
                <a:solidFill>
                  <a:srgbClr val="FF8C42"/>
                </a:solidFill>
              </a:defRPr>
            </a:pPr>
            <a:r>
              <a:t>Verifier 2: Evidence-Strict</a:t>
            </a:r>
          </a:p>
          <a:p>
            <a:pPr>
              <a:spcBef>
                <a:spcPts val="200"/>
              </a:spcBef>
              <a:defRPr sz="1300" b="1">
                <a:solidFill>
                  <a:srgbClr val="2D2D3F"/>
                </a:solidFill>
              </a:defRPr>
            </a:pPr>
            <a:r>
              <a:t>qwen2.5:7b</a:t>
            </a:r>
          </a:p>
          <a:p>
            <a:pPr>
              <a:spcBef>
                <a:spcPts val="200"/>
              </a:spcBef>
              <a:defRPr sz="1100" b="0">
                <a:solidFill>
                  <a:srgbClr val="A0A0A0"/>
                </a:solidFill>
              </a:defRPr>
            </a:pPr>
            <a:r>
              <a:t>Only cites explicit</a:t>
            </a:r>
            <a:br/>
            <a:r>
              <a:t>facts from sources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4389120"/>
            <a:ext cx="2743200" cy="1325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8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600"/>
              </a:spcBef>
              <a:defRPr sz="1400" b="1">
                <a:solidFill>
                  <a:srgbClr val="FF8C42"/>
                </a:solidFill>
              </a:defRPr>
            </a:pPr>
            <a:r>
              <a:t>Verifier 3: Adversarial</a:t>
            </a:r>
          </a:p>
          <a:p>
            <a:pPr>
              <a:spcBef>
                <a:spcPts val="200"/>
              </a:spcBef>
              <a:defRPr sz="1300" b="1">
                <a:solidFill>
                  <a:srgbClr val="2D2D3F"/>
                </a:solidFill>
              </a:defRPr>
            </a:pPr>
            <a:r>
              <a:t>llama3.1:8b</a:t>
            </a:r>
          </a:p>
          <a:p>
            <a:pPr>
              <a:spcBef>
                <a:spcPts val="200"/>
              </a:spcBef>
              <a:defRPr sz="1100" b="0">
                <a:solidFill>
                  <a:srgbClr val="A0A0A0"/>
                </a:solidFill>
              </a:defRPr>
            </a:pPr>
            <a:r>
              <a:t>Challenges assumptions</a:t>
            </a:r>
            <a:br/>
            <a:r>
              <a:t>and edge cases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56032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0">
                <a:solidFill>
                  <a:srgbClr val="A0A0A0"/>
                </a:solidFill>
              </a:defRPr>
            </a:pPr>
            <a:r>
              <a:t>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1645920"/>
            <a:ext cx="228600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9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96D6"/>
                </a:solidFill>
              </a:defRPr>
            </a:pPr>
            <a:r>
              <a:t>Consensus Check</a:t>
            </a:r>
          </a:p>
          <a:p>
            <a:pPr>
              <a:spcBef>
                <a:spcPts val="400"/>
              </a:spcBef>
              <a:defRPr sz="1300" b="0">
                <a:solidFill>
                  <a:srgbClr val="2D2D3F"/>
                </a:solidFill>
              </a:defRPr>
            </a:pPr>
            <a:r>
              <a:t>2/3 verifiers must agree</a:t>
            </a:r>
          </a:p>
          <a:p>
            <a:pPr>
              <a:spcBef>
                <a:spcPts val="400"/>
              </a:spcBef>
              <a:defRPr sz="1300" b="0">
                <a:solidFill>
                  <a:srgbClr val="2D2D3F"/>
                </a:solidFill>
              </a:defRPr>
            </a:pPr>
            <a:r>
              <a:t>with primary annotation</a:t>
            </a:r>
          </a:p>
          <a:p>
            <a:pPr>
              <a:spcBef>
                <a:spcPts val="400"/>
              </a:spcBef>
              <a:defRPr sz="1300" b="1">
                <a:solidFill>
                  <a:srgbClr val="00C9A7"/>
                </a:solidFill>
              </a:defRPr>
            </a:pPr>
            <a:r>
              <a:t>If yes → Accept</a:t>
            </a:r>
          </a:p>
          <a:p>
            <a:pPr>
              <a:spcBef>
                <a:spcPts val="400"/>
              </a:spcBef>
              <a:defRPr sz="1300" b="1">
                <a:solidFill>
                  <a:srgbClr val="FF5C5C"/>
                </a:solidFill>
              </a:defRPr>
            </a:pPr>
            <a:r>
              <a:t>If no → Reconcile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228600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0">
                <a:solidFill>
                  <a:srgbClr val="A0A0A0"/>
                </a:solidFill>
              </a:defRPr>
            </a:pPr>
            <a:r>
              <a:t>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92640" y="1645920"/>
            <a:ext cx="210312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5C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5C5C"/>
                </a:solidFill>
              </a:defRPr>
            </a:pPr>
            <a:r>
              <a:t>Reconciler</a:t>
            </a:r>
          </a:p>
          <a:p>
            <a:pPr>
              <a:spcBef>
                <a:spcPts val="400"/>
              </a:spcBef>
              <a:defRPr sz="1300" b="1">
                <a:solidFill>
                  <a:srgbClr val="2D2D3F"/>
                </a:solidFill>
              </a:defRPr>
            </a:pPr>
            <a:r>
              <a:t>qwen3:14b</a:t>
            </a:r>
          </a:p>
          <a:p>
            <a:pPr>
              <a:spcBef>
                <a:spcPts val="400"/>
              </a:spcBef>
              <a:defRPr sz="1200" b="0">
                <a:solidFill>
                  <a:srgbClr val="A0A0A0"/>
                </a:solidFill>
              </a:defRPr>
            </a:pPr>
            <a:r>
              <a:t>Sees ALL opinions</a:t>
            </a:r>
          </a:p>
          <a:p>
            <a:pPr>
              <a:spcBef>
                <a:spcPts val="400"/>
              </a:spcBef>
              <a:defRPr sz="1200" b="0">
                <a:solidFill>
                  <a:srgbClr val="A0A0A0"/>
                </a:solidFill>
              </a:defRPr>
            </a:pPr>
            <a:r>
              <a:t>Makes final decision</a:t>
            </a:r>
          </a:p>
          <a:p>
            <a:pPr>
              <a:spcBef>
                <a:spcPts val="400"/>
              </a:spcBef>
              <a:defRPr sz="1200" b="0">
                <a:solidFill>
                  <a:srgbClr val="A0A0A0"/>
                </a:solidFill>
              </a:defRPr>
            </a:pPr>
            <a:r>
              <a:t>with full evidence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846320"/>
            <a:ext cx="11247120" cy="1371600"/>
          </a:xfrm>
          <a:prstGeom prst="roundRect">
            <a:avLst/>
          </a:prstGeom>
          <a:solidFill>
            <a:srgbClr val="FDF0E0"/>
          </a:solidFill>
          <a:ln w="12700">
            <a:solidFill>
              <a:srgbClr val="FF8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FF8C42"/>
                </a:solidFill>
              </a:defRPr>
            </a:pPr>
            <a:r>
              <a:t>Skip Verification</a:t>
            </a:r>
          </a:p>
          <a:p>
            <a:pPr>
              <a:spcBef>
                <a:spcPts val="400"/>
              </a:spcBef>
              <a:defRPr sz="1300" b="0">
                <a:solidFill>
                  <a:srgbClr val="2D2D3F"/>
                </a:solidFill>
              </a:defRPr>
            </a:pPr>
            <a:r>
              <a:t>High-confidence deterministic annotations skip the verification pipeline entirely (e.g., known peptide drugs, registry status = Recruiting)</a:t>
            </a:r>
          </a:p>
          <a:p>
            <a:pPr>
              <a:spcBef>
                <a:spcPts val="400"/>
              </a:spcBef>
              <a:defRPr sz="1300" b="0">
                <a:solidFill>
                  <a:srgbClr val="2D2D3F"/>
                </a:solidFill>
              </a:defRPr>
            </a:pPr>
            <a:r>
              <a:t>Publication-anchored annotations with efficacy evidence also skip verification to prevent reconciler from overriding correct calls</a:t>
            </a:r>
          </a:p>
          <a:p>
            <a:pPr>
              <a:spcBef>
                <a:spcPts val="400"/>
              </a:spcBef>
              <a:defRPr sz="1300" b="0">
                <a:solidFill>
                  <a:srgbClr val="2D2D3F"/>
                </a:solidFill>
              </a:defRPr>
            </a:pPr>
            <a:r>
              <a:t>Cognitive diversity: 4 different model families (Google, Alibaba, Meta, Alibaba) reduce systematic bias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2D2D3F"/>
                </a:solidFill>
              </a:defRPr>
            </a:pPr>
            <a:r>
              <a:t>Accuracy vs Human Annotators (94-NCT Validation)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A0A0A0"/>
                </a:solidFill>
              </a:defRPr>
            </a:pPr>
            <a:r>
              <a:t>Agent agreement with expert annotator R1 — compared to human inter-annotator agreement (R1 vs R2)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463040"/>
            <a:ext cx="10332720" cy="5486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600"/>
              </a:spcBef>
              <a:defRPr sz="1400" b="1">
                <a:solidFill>
                  <a:srgbClr val="FFFFFF"/>
                </a:solidFill>
              </a:defRPr>
            </a:pPr>
            <a:r>
              <a:t>Field                                          Agent vs R1          Human R1 vs R2          Status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103120"/>
            <a:ext cx="10332720" cy="594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9456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0096D6"/>
                </a:solidFill>
              </a:defRPr>
            </a:pPr>
            <a:r>
              <a:t>Classification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212848"/>
            <a:ext cx="2925165" cy="365760"/>
          </a:xfrm>
          <a:prstGeom prst="roundRect">
            <a:avLst/>
          </a:prstGeom>
          <a:solidFill>
            <a:srgbClr val="009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400"/>
              </a:spcBef>
              <a:defRPr sz="1300" b="1">
                <a:solidFill>
                  <a:srgbClr val="FFFFFF"/>
                </a:solidFill>
              </a:defRPr>
            </a:pPr>
            <a:r>
              <a:t>  91.4%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2212848"/>
            <a:ext cx="2982772" cy="365760"/>
          </a:xfrm>
          <a:prstGeom prst="roundRect">
            <a:avLst/>
          </a:prstGeom>
          <a:solidFill>
            <a:srgbClr val="A0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400"/>
              </a:spcBef>
              <a:defRPr sz="1300" b="1">
                <a:solidFill>
                  <a:srgbClr val="FFFFFF"/>
                </a:solidFill>
              </a:defRPr>
            </a:pPr>
            <a:r>
              <a:t>  93.2%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2194560"/>
            <a:ext cx="1371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0A0A0"/>
                </a:solidFill>
              </a:defRPr>
            </a:pPr>
            <a:r>
              <a:t>1.8pp gap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788920"/>
            <a:ext cx="10332720" cy="594360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88036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FF8C42"/>
                </a:solidFill>
              </a:defRPr>
            </a:pPr>
            <a:r>
              <a:t>Delivery Mode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898648"/>
            <a:ext cx="2733141" cy="365760"/>
          </a:xfrm>
          <a:prstGeom prst="round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400"/>
              </a:spcBef>
              <a:defRPr sz="1300" b="1">
                <a:solidFill>
                  <a:srgbClr val="FFFFFF"/>
                </a:solidFill>
              </a:defRPr>
            </a:pPr>
            <a:r>
              <a:t>  85.4%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2898648"/>
            <a:ext cx="2845155" cy="365760"/>
          </a:xfrm>
          <a:prstGeom prst="roundRect">
            <a:avLst/>
          </a:prstGeom>
          <a:solidFill>
            <a:srgbClr val="A0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400"/>
              </a:spcBef>
              <a:defRPr sz="1300" b="1">
                <a:solidFill>
                  <a:srgbClr val="FFFFFF"/>
                </a:solidFill>
              </a:defRPr>
            </a:pPr>
            <a:r>
              <a:t>  88.9%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2880360"/>
            <a:ext cx="1371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0A0A0"/>
                </a:solidFill>
              </a:defRPr>
            </a:pPr>
            <a:r>
              <a:t>3.5pp gap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474720"/>
            <a:ext cx="10332720" cy="594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56616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FF5C5C"/>
                </a:solidFill>
              </a:defRPr>
            </a:pPr>
            <a:r>
              <a:t>Outcome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3584448"/>
            <a:ext cx="1936241" cy="365760"/>
          </a:xfrm>
          <a:prstGeom prst="roundRect">
            <a:avLst/>
          </a:prstGeom>
          <a:solidFill>
            <a:srgbClr val="FF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400"/>
              </a:spcBef>
              <a:defRPr sz="1300" b="1">
                <a:solidFill>
                  <a:srgbClr val="FFFFFF"/>
                </a:solidFill>
              </a:defRPr>
            </a:pPr>
            <a:r>
              <a:t>  60.5%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3584448"/>
            <a:ext cx="2057857" cy="365760"/>
          </a:xfrm>
          <a:prstGeom prst="roundRect">
            <a:avLst/>
          </a:prstGeom>
          <a:solidFill>
            <a:srgbClr val="A0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400"/>
              </a:spcBef>
              <a:defRPr sz="1300" b="1">
                <a:solidFill>
                  <a:srgbClr val="FFFFFF"/>
                </a:solidFill>
              </a:defRPr>
            </a:pPr>
            <a:r>
              <a:t>  64.3%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3566160"/>
            <a:ext cx="1371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0A0A0"/>
                </a:solidFill>
              </a:defRPr>
            </a:pPr>
            <a:r>
              <a:t>3.8pp gap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160520"/>
            <a:ext cx="10332720" cy="594360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25196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A85CFF"/>
                </a:solidFill>
              </a:defRPr>
            </a:pPr>
            <a:r>
              <a:t>Reason for Failure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4270248"/>
            <a:ext cx="2957169" cy="365760"/>
          </a:xfrm>
          <a:prstGeom prst="roundRect">
            <a:avLst/>
          </a:prstGeom>
          <a:solidFill>
            <a:srgbClr val="A8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400"/>
              </a:spcBef>
              <a:defRPr sz="1300" b="1">
                <a:solidFill>
                  <a:srgbClr val="FFFFFF"/>
                </a:solidFill>
              </a:defRPr>
            </a:pPr>
            <a:r>
              <a:t>  92.4%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0" y="4270248"/>
            <a:ext cx="2835554" cy="365760"/>
          </a:xfrm>
          <a:prstGeom prst="roundRect">
            <a:avLst/>
          </a:prstGeom>
          <a:solidFill>
            <a:srgbClr val="A0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400"/>
              </a:spcBef>
              <a:defRPr sz="1300" b="1">
                <a:solidFill>
                  <a:srgbClr val="FFFFFF"/>
                </a:solidFill>
              </a:defRPr>
            </a:pPr>
            <a:r>
              <a:t>  88.6%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4251960"/>
            <a:ext cx="1371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00C9A7"/>
                </a:solidFill>
              </a:defRPr>
            </a:pPr>
            <a:r>
              <a:t>Above human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4846320"/>
            <a:ext cx="10332720" cy="594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493776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00C9A7"/>
                </a:solidFill>
              </a:defRPr>
            </a:pPr>
            <a:r>
              <a:t>Peptide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0" y="4956048"/>
            <a:ext cx="2825953" cy="365760"/>
          </a:xfrm>
          <a:prstGeom prst="round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400"/>
              </a:spcBef>
              <a:defRPr sz="1300" b="1">
                <a:solidFill>
                  <a:srgbClr val="FFFFFF"/>
                </a:solidFill>
              </a:defRPr>
            </a:pPr>
            <a:r>
              <a:t>  88.3%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0" y="4956048"/>
            <a:ext cx="2752344" cy="365760"/>
          </a:xfrm>
          <a:prstGeom prst="roundRect">
            <a:avLst/>
          </a:prstGeom>
          <a:solidFill>
            <a:srgbClr val="A0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400"/>
              </a:spcBef>
              <a:defRPr sz="1300" b="1">
                <a:solidFill>
                  <a:srgbClr val="FFFFFF"/>
                </a:solidFill>
              </a:defRPr>
            </a:pPr>
            <a:r>
              <a:t>  86.0%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4937760"/>
            <a:ext cx="1371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00C9A7"/>
                </a:solidFill>
              </a:defRPr>
            </a:pPr>
            <a:r>
              <a:t>Above human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5532120"/>
            <a:ext cx="10332720" cy="594360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" y="562356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0096D6"/>
                </a:solidFill>
              </a:defRPr>
            </a:pPr>
            <a:r>
              <a:t>Sequence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89120" y="5641848"/>
            <a:ext cx="1865833" cy="365760"/>
          </a:xfrm>
          <a:prstGeom prst="roundRect">
            <a:avLst/>
          </a:prstGeom>
          <a:solidFill>
            <a:srgbClr val="009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400"/>
              </a:spcBef>
              <a:defRPr sz="1300" b="1">
                <a:solidFill>
                  <a:srgbClr val="FFFFFF"/>
                </a:solidFill>
              </a:defRPr>
            </a:pPr>
            <a:r>
              <a:t>  58.3%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0" y="5641848"/>
            <a:ext cx="1664208" cy="365760"/>
          </a:xfrm>
          <a:prstGeom prst="roundRect">
            <a:avLst/>
          </a:prstGeom>
          <a:solidFill>
            <a:srgbClr val="A0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400"/>
              </a:spcBef>
              <a:defRPr sz="1300" b="1">
                <a:solidFill>
                  <a:srgbClr val="FFFFFF"/>
                </a:solidFill>
              </a:defRPr>
            </a:pPr>
            <a:r>
              <a:t>  52.0%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5623560"/>
            <a:ext cx="1371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00C9A7"/>
                </a:solidFill>
              </a:defRPr>
            </a:pPr>
            <a:r>
              <a:t>Above human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621792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0A0A0"/>
                </a:solidFill>
              </a:defRPr>
            </a:pPr>
            <a:r>
              <a:t>          Agent vs R1                                              Human R1 vs R2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2D2D3F"/>
                </a:solidFill>
              </a:defRPr>
            </a:pPr>
            <a:r>
              <a:t>Technology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188720"/>
            <a:ext cx="3657600" cy="5029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9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3657600" cy="548640"/>
          </a:xfrm>
          <a:prstGeom prst="roundRect">
            <a:avLst/>
          </a:prstGeom>
          <a:solidFill>
            <a:srgbClr val="009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700" b="1">
                <a:solidFill>
                  <a:srgbClr val="FFFFFF"/>
                </a:solidFill>
              </a:defRPr>
            </a:pPr>
            <a:r>
              <a:t>LLM Models (Local)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329184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2D2D3F"/>
                </a:solidFill>
              </a:defRPr>
            </a:pPr>
            <a:r>
              <a:t>qwen3:14b — Primary annotation + reconciliation</a:t>
            </a:r>
          </a:p>
          <a:p>
            <a:pPr>
              <a:spcBef>
                <a:spcPts val="1000"/>
              </a:spcBef>
              <a:defRPr sz="1300" b="0">
                <a:solidFill>
                  <a:srgbClr val="2D2D3F"/>
                </a:solidFill>
              </a:defRPr>
            </a:pPr>
            <a:r>
              <a:t>gemma2:9b — Verifier (conservative)</a:t>
            </a:r>
          </a:p>
          <a:p>
            <a:pPr>
              <a:spcBef>
                <a:spcPts val="1000"/>
              </a:spcBef>
              <a:defRPr sz="1300" b="0">
                <a:solidFill>
                  <a:srgbClr val="2D2D3F"/>
                </a:solidFill>
              </a:defRPr>
            </a:pPr>
            <a:r>
              <a:t>qwen2.5:7b — Verifier (evidence-strict)</a:t>
            </a:r>
          </a:p>
          <a:p>
            <a:pPr>
              <a:spcBef>
                <a:spcPts val="1000"/>
              </a:spcBef>
              <a:defRPr sz="1300" b="0">
                <a:solidFill>
                  <a:srgbClr val="2D2D3F"/>
                </a:solidFill>
              </a:defRPr>
            </a:pPr>
            <a:r>
              <a:t>llama3.1:8b — Verifier (adversarial)</a:t>
            </a:r>
          </a:p>
          <a:p>
            <a:pPr>
              <a:spcBef>
                <a:spcPts val="1000"/>
              </a:spcBef>
              <a:defRPr sz="1300" b="0">
                <a:solidFill>
                  <a:srgbClr val="2D2D3F"/>
                </a:solidFill>
              </a:defRPr>
            </a:pPr>
            <a:r>
              <a:t>All models run locally via Ollama</a:t>
            </a:r>
          </a:p>
          <a:p>
            <a:pPr>
              <a:spcBef>
                <a:spcPts val="1000"/>
              </a:spcBef>
              <a:defRPr sz="1300" b="0">
                <a:solidFill>
                  <a:srgbClr val="2D2D3F"/>
                </a:solidFill>
              </a:defRPr>
            </a:pPr>
            <a:r>
              <a:t>No cloud API calls — full data privacy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188720"/>
            <a:ext cx="3657600" cy="5029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206240" y="1188720"/>
            <a:ext cx="3657600" cy="548640"/>
          </a:xfrm>
          <a:prstGeom prst="round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700" b="1">
                <a:solidFill>
                  <a:srgbClr val="FFFFFF"/>
                </a:solidFill>
              </a:defRPr>
            </a:pPr>
            <a:r>
              <a:t>Infrastructure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920240"/>
            <a:ext cx="329184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2D2D3F"/>
                </a:solidFill>
              </a:defRPr>
            </a:pPr>
            <a:r>
              <a:t>Python + FastAPI (async web framework)</a:t>
            </a:r>
          </a:p>
          <a:p>
            <a:pPr>
              <a:spcBef>
                <a:spcPts val="1000"/>
              </a:spcBef>
              <a:defRPr sz="1300" b="0">
                <a:solidFill>
                  <a:srgbClr val="2D2D3F"/>
                </a:solidFill>
              </a:defRPr>
            </a:pPr>
            <a:r>
              <a:t>Ollama (local LLM inference server)</a:t>
            </a:r>
          </a:p>
          <a:p>
            <a:pPr>
              <a:spcBef>
                <a:spcPts val="1000"/>
              </a:spcBef>
              <a:defRPr sz="1300" b="0">
                <a:solidFill>
                  <a:srgbClr val="2D2D3F"/>
                </a:solidFill>
              </a:defRPr>
            </a:pPr>
            <a:r>
              <a:t>Mac Mini M4 (16GB) or Server (240GB+)</a:t>
            </a:r>
          </a:p>
          <a:p>
            <a:pPr>
              <a:spcBef>
                <a:spcPts val="1000"/>
              </a:spcBef>
              <a:defRPr sz="1300" b="0">
                <a:solidFill>
                  <a:srgbClr val="2D2D3F"/>
                </a:solidFill>
              </a:defRPr>
            </a:pPr>
            <a:r>
              <a:t>LaunchDaemon services (boot on startup)</a:t>
            </a:r>
          </a:p>
          <a:p>
            <a:pPr>
              <a:spcBef>
                <a:spcPts val="1000"/>
              </a:spcBef>
              <a:defRPr sz="1300" b="0">
                <a:solidFill>
                  <a:srgbClr val="2D2D3F"/>
                </a:solidFill>
              </a:defRPr>
            </a:pPr>
            <a:r>
              <a:t>Git-based auto-updater (30s polling)</a:t>
            </a:r>
          </a:p>
          <a:p>
            <a:pPr>
              <a:spcBef>
                <a:spcPts val="1000"/>
              </a:spcBef>
              <a:defRPr sz="1300" b="0">
                <a:solidFill>
                  <a:srgbClr val="2D2D3F"/>
                </a:solidFill>
              </a:defRPr>
            </a:pPr>
            <a:r>
              <a:t>Prod: port 8005 | Dev: port 9005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188720"/>
            <a:ext cx="3657600" cy="5029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8C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046720" y="1188720"/>
            <a:ext cx="3657600" cy="548640"/>
          </a:xfrm>
          <a:prstGeom prst="round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700" b="1">
                <a:solidFill>
                  <a:srgbClr val="FFFFFF"/>
                </a:solidFill>
              </a:defRPr>
            </a:pPr>
            <a:r>
              <a:t>Data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1920240"/>
            <a:ext cx="329184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2D2D3F"/>
                </a:solidFill>
              </a:defRPr>
            </a:pPr>
            <a:r>
              <a:t>15 async research agents (parallel HTTP)</a:t>
            </a:r>
          </a:p>
          <a:p>
            <a:pPr>
              <a:spcBef>
                <a:spcPts val="1000"/>
              </a:spcBef>
              <a:defRPr sz="1300" b="0">
                <a:solidFill>
                  <a:srgbClr val="2D2D3F"/>
                </a:solidFill>
              </a:defRPr>
            </a:pPr>
            <a:r>
              <a:t>HTTPX async client with per-model timeouts</a:t>
            </a:r>
          </a:p>
          <a:p>
            <a:pPr>
              <a:spcBef>
                <a:spcPts val="1000"/>
              </a:spcBef>
              <a:defRPr sz="1300" b="0">
                <a:solidFill>
                  <a:srgbClr val="2D2D3F"/>
                </a:solidFill>
              </a:defRPr>
            </a:pPr>
            <a:r>
              <a:t>Structured evidence dossier architecture</a:t>
            </a:r>
          </a:p>
          <a:p>
            <a:pPr>
              <a:spcBef>
                <a:spcPts val="1000"/>
              </a:spcBef>
              <a:defRPr sz="1300" b="0">
                <a:solidFill>
                  <a:srgbClr val="2D2D3F"/>
                </a:solidFill>
              </a:defRPr>
            </a:pPr>
            <a:r>
              <a:t>Publication quality classification (v41)</a:t>
            </a:r>
          </a:p>
          <a:p>
            <a:pPr>
              <a:spcBef>
                <a:spcPts val="1000"/>
              </a:spcBef>
              <a:defRPr sz="1300" b="0">
                <a:solidFill>
                  <a:srgbClr val="2D2D3F"/>
                </a:solidFill>
              </a:defRPr>
            </a:pPr>
            <a:r>
              <a:t>Efficacy vs safety keyword separation</a:t>
            </a:r>
          </a:p>
          <a:p>
            <a:pPr>
              <a:spcBef>
                <a:spcPts val="1000"/>
              </a:spcBef>
              <a:defRPr sz="1300" b="0">
                <a:solidFill>
                  <a:srgbClr val="2D2D3F"/>
                </a:solidFill>
              </a:defRPr>
            </a:pPr>
            <a:r>
              <a:t>Full JSON audit trail per trial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